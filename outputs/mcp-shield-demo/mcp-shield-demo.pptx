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98" d="100"/>
          <a:sy n="98" d="100"/>
        </p:scale>
        <p:origin x="10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by positioning MCP Shield as a security analytics and service management dashboard. The demo focus is role-based access, especially the C-Admin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explain the product before you begin switching between demo accounts.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Mention the three demo logins: admin@shield.com/admin, partner@shield.com/partner, cadmin@shield.com/cadmin.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Manage Services as C-Admin and point out the assigned client selector and scoped service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+ Onboard Service from Manage Services. Show that the form starts with an assigned client selector.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Account and Account Type columns in Reporting for Admin and C-Admin.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this slide visible before the live browser portion. It is your run-of-show.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acceptance criteria for the completed role-scope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making clear that the frontend proves the workflow, while production needs backend enforcement.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DADAC08-0325-4B82-AE8A-3A347D13B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24646C6-BCBF-4EFC-B7E9-3D2A15DA7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078C891-37B1-4ABE-8E8B-B9E2395CE5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BEA2D14-6CC5-4FD8-8F5B-27FF6C93389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23E0418-E462-4946-BAE5-D25BFD16EF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23CB694-BD5F-496A-801C-5F363A01E5F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23E0418-E462-4946-BAE5-D25BFD16EF5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9180A0-77EE-4D47-B8EB-81DE469721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6443D37-1CC9-4258-8E44-44E1AE4831CD}"/>
              </a:ext>
            </a:extLst>
          </p:cNvPr>
          <p:cNvSpPr>
            <a:spLocks noGrp="1"/>
          </p:cNvSpPr>
          <p:nvPr/>
        </p:nvSpPr>
        <p:spPr>
          <a:xfrm>
            <a:off x="8096250" y="-1238250"/>
            <a:ext cx="4953000" cy="4953000"/>
          </a:xfrm>
          <a:prstGeom prst="ellipse">
            <a:avLst/>
          </a:prstGeom>
          <a:solidFill>
            <a:srgbClr val="0D9488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8F81413-8814-45C6-AF29-76DEAD7577C5}"/>
              </a:ext>
            </a:extLst>
          </p:cNvPr>
          <p:cNvSpPr>
            <a:spLocks noGrp="1"/>
          </p:cNvSpPr>
          <p:nvPr/>
        </p:nvSpPr>
        <p:spPr>
          <a:xfrm>
            <a:off x="9334500" y="4000500"/>
            <a:ext cx="4000500" cy="4000500"/>
          </a:xfrm>
          <a:prstGeom prst="ellipse">
            <a:avLst/>
          </a:prstGeom>
          <a:solidFill>
            <a:srgbClr val="4F46E5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A61341-047F-4A22-961E-28A704A9DDB2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76200" cy="4286250"/>
          </a:xfrm>
          <a:prstGeom prst="rect">
            <a:avLst/>
          </a:prstGeom>
          <a:solidFill>
            <a:srgbClr val="0D94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285F72-C542-45A3-B435-64B5E2CD1D6B}"/>
              </a:ext>
            </a:extLst>
          </p:cNvPr>
          <p:cNvSpPr>
            <a:spLocks noGrp="1"/>
          </p:cNvSpPr>
          <p:nvPr/>
        </p:nvSpPr>
        <p:spPr>
          <a:xfrm>
            <a:off x="1009650" y="8953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8BE4DA"/>
                </a:solidFill>
              </a:defRPr>
            </a:pPr>
            <a:r>
              <a:rPr sz="975" b="1">
                <a:solidFill>
                  <a:srgbClr val="8BE4DA"/>
                </a:solidFill>
              </a:rPr>
              <a:t>MCP SHIELD DEMO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C8FB52-46D9-40F1-AE37-C8CDB4C6573D}"/>
              </a:ext>
            </a:extLst>
          </p:cNvPr>
          <p:cNvSpPr>
            <a:spLocks noGrp="1"/>
          </p:cNvSpPr>
          <p:nvPr/>
        </p:nvSpPr>
        <p:spPr>
          <a:xfrm>
            <a:off x="952500" y="1352550"/>
            <a:ext cx="7239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Role-aware security dashboard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7B3AD1-D897-4EF6-8D8A-FBAAF2D789A3}"/>
              </a:ext>
            </a:extLst>
          </p:cNvPr>
          <p:cNvSpPr>
            <a:spLocks noGrp="1"/>
          </p:cNvSpPr>
          <p:nvPr/>
        </p:nvSpPr>
        <p:spPr>
          <a:xfrm>
            <a:off x="990600" y="2743200"/>
            <a:ext cx="6191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D9E5F2"/>
                </a:solidFill>
              </a:defRPr>
            </a:pPr>
            <a:r>
              <a:rPr sz="1500" b="0">
                <a:solidFill>
                  <a:srgbClr val="D9E5F2"/>
                </a:solidFill>
              </a:rPr>
              <a:t>A guided demo for service onboarding, scoped analytics, and report ownership across Admin, Client, and C-Admin accounts.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68FD227-7AF3-4758-BC72-40889CCE5575}"/>
              </a:ext>
            </a:extLst>
          </p:cNvPr>
          <p:cNvSpPr>
            <a:spLocks noGrp="1"/>
          </p:cNvSpPr>
          <p:nvPr/>
        </p:nvSpPr>
        <p:spPr>
          <a:xfrm>
            <a:off x="990600" y="4343400"/>
            <a:ext cx="419100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7843"/>
            </a:srgbClr>
          </a:solidFill>
          <a:ln w="11430">
            <a:solidFill>
              <a:srgbClr val="8BE4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0D9DC9-C7D8-42A9-B53E-339D514ECEB2}"/>
              </a:ext>
            </a:extLst>
          </p:cNvPr>
          <p:cNvSpPr>
            <a:spLocks noGrp="1"/>
          </p:cNvSpPr>
          <p:nvPr/>
        </p:nvSpPr>
        <p:spPr>
          <a:xfrm>
            <a:off x="1276350" y="4591050"/>
            <a:ext cx="3619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Show scope, not just screens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3BFC57-C0C3-4FDA-84B8-F298B9CA236E}"/>
              </a:ext>
            </a:extLst>
          </p:cNvPr>
          <p:cNvSpPr>
            <a:spLocks noGrp="1"/>
          </p:cNvSpPr>
          <p:nvPr/>
        </p:nvSpPr>
        <p:spPr>
          <a:xfrm>
            <a:off x="990600" y="6362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B8C7D9"/>
                </a:solidFill>
              </a:defRPr>
            </a:pPr>
            <a:r>
              <a:rPr sz="975" b="0">
                <a:solidFill>
                  <a:srgbClr val="B8C7D9"/>
                </a:solidFill>
              </a:rPr>
              <a:t>Demo deck | Admin, Client, C-Admin</a:t>
            </a:r>
          </a:p>
        </p:txBody>
      </p:sp>
    </p:spTree>
    <p:extLst>
      <p:ext uri="{BB962C8B-B14F-4D97-AF65-F5344CB8AC3E}">
        <p14:creationId xmlns:p14="http://schemas.microsoft.com/office/powerpoint/2010/main" val="766730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14BB69-958B-4BC1-82B7-01C32ECC87F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5E59"/>
                </a:solidFill>
              </a:defRPr>
            </a:pPr>
            <a:r>
              <a:rPr sz="900" b="1">
                <a:solidFill>
                  <a:srgbClr val="115E59"/>
                </a:solidFill>
              </a:rPr>
              <a:t>PRODUCT OVERVIEW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146F407-14F9-4069-841D-1C6BAF7D03C1}"/>
              </a:ext>
            </a:extLst>
          </p:cNvPr>
          <p:cNvSpPr>
            <a:spLocks noGrp="1"/>
          </p:cNvSpPr>
          <p:nvPr/>
        </p:nvSpPr>
        <p:spPr>
          <a:xfrm>
            <a:off x="10972800" y="285750"/>
            <a:ext cx="247650" cy="247650"/>
          </a:xfrm>
          <a:prstGeom prst="ellipse">
            <a:avLst/>
          </a:prstGeom>
          <a:solidFill>
            <a:srgbClr val="0D9488"/>
          </a:solidFill>
          <a:ln w="9525">
            <a:solidFill>
              <a:srgbClr val="115E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747E542-FF5C-44DB-ADA9-6887DA0925B7}"/>
              </a:ext>
            </a:extLst>
          </p:cNvPr>
          <p:cNvSpPr>
            <a:spLocks noGrp="1"/>
          </p:cNvSpPr>
          <p:nvPr/>
        </p:nvSpPr>
        <p:spPr>
          <a:xfrm>
            <a:off x="11315700" y="285750"/>
            <a:ext cx="247650" cy="247650"/>
          </a:xfrm>
          <a:prstGeom prst="ellipse">
            <a:avLst/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9AD459-5562-4C89-953D-E581E0CF868A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What the project demonstrates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3D53C3-FD21-44E6-8523-E163315B59BA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7239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MCP Shield combines analytics, service operations, user control, and reporting into one role-aware portal.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C7CBFB4-15E6-44E6-B9AC-DA5A8F2A20C7}"/>
              </a:ext>
            </a:extLst>
          </p:cNvPr>
          <p:cNvSpPr>
            <a:spLocks noGrp="1"/>
          </p:cNvSpPr>
          <p:nvPr/>
        </p:nvSpPr>
        <p:spPr>
          <a:xfrm>
            <a:off x="8191500" y="990600"/>
            <a:ext cx="895350" cy="342900"/>
          </a:xfrm>
          <a:prstGeom prst="roundRect">
            <a:avLst>
              <a:gd name="adj" fmla="val 22222"/>
            </a:avLst>
          </a:prstGeom>
          <a:solidFill>
            <a:srgbClr val="4F46E5">
              <a:alpha val="9412"/>
            </a:srgbClr>
          </a:solidFill>
          <a:ln w="9525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4D98EC-9216-45B8-A9E6-D5D4B7E7CF6F}"/>
              </a:ext>
            </a:extLst>
          </p:cNvPr>
          <p:cNvSpPr>
            <a:spLocks noGrp="1"/>
          </p:cNvSpPr>
          <p:nvPr/>
        </p:nvSpPr>
        <p:spPr>
          <a:xfrm>
            <a:off x="8286750" y="1066800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4F46E5"/>
                </a:solidFill>
              </a:defRPr>
            </a:pPr>
            <a:r>
              <a:rPr sz="900" b="1">
                <a:solidFill>
                  <a:srgbClr val="4F46E5"/>
                </a:solidFill>
              </a:rPr>
              <a:t>Admin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1A3F34-35FF-4AFD-98D8-6F5826A34C54}"/>
              </a:ext>
            </a:extLst>
          </p:cNvPr>
          <p:cNvSpPr>
            <a:spLocks noGrp="1"/>
          </p:cNvSpPr>
          <p:nvPr/>
        </p:nvSpPr>
        <p:spPr>
          <a:xfrm>
            <a:off x="9334500" y="990600"/>
            <a:ext cx="895350" cy="342900"/>
          </a:xfrm>
          <a:prstGeom prst="roundRect">
            <a:avLst>
              <a:gd name="adj" fmla="val 22222"/>
            </a:avLst>
          </a:prstGeom>
          <a:solidFill>
            <a:srgbClr val="2563EB">
              <a:alpha val="9412"/>
            </a:srgbClr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E7B84D-E951-4136-823D-F1A6D79E6003}"/>
              </a:ext>
            </a:extLst>
          </p:cNvPr>
          <p:cNvSpPr>
            <a:spLocks noGrp="1"/>
          </p:cNvSpPr>
          <p:nvPr/>
        </p:nvSpPr>
        <p:spPr>
          <a:xfrm>
            <a:off x="9429750" y="1066800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Client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B253796-9B40-40D9-85CB-268F15A39D38}"/>
              </a:ext>
            </a:extLst>
          </p:cNvPr>
          <p:cNvSpPr>
            <a:spLocks noGrp="1"/>
          </p:cNvSpPr>
          <p:nvPr/>
        </p:nvSpPr>
        <p:spPr>
          <a:xfrm>
            <a:off x="10477500" y="990600"/>
            <a:ext cx="895350" cy="342900"/>
          </a:xfrm>
          <a:prstGeom prst="roundRect">
            <a:avLst>
              <a:gd name="adj" fmla="val 22222"/>
            </a:avLst>
          </a:prstGeom>
          <a:solidFill>
            <a:srgbClr val="0D9488">
              <a:alpha val="9412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AF8B81-FD0B-4288-A8E3-3254E13DBF45}"/>
              </a:ext>
            </a:extLst>
          </p:cNvPr>
          <p:cNvSpPr>
            <a:spLocks noGrp="1"/>
          </p:cNvSpPr>
          <p:nvPr/>
        </p:nvSpPr>
        <p:spPr>
          <a:xfrm>
            <a:off x="10572750" y="1066800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D9488"/>
                </a:solidFill>
              </a:defRPr>
            </a:pPr>
            <a:r>
              <a:rPr sz="900" b="1">
                <a:solidFill>
                  <a:srgbClr val="0D9488"/>
                </a:solidFill>
              </a:rPr>
              <a:t>C-Admin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B22C3FE-69E1-4625-89A6-57153B2B45BE}"/>
              </a:ext>
            </a:extLst>
          </p:cNvPr>
          <p:cNvSpPr>
            <a:spLocks noGrp="1"/>
          </p:cNvSpPr>
          <p:nvPr/>
        </p:nvSpPr>
        <p:spPr>
          <a:xfrm>
            <a:off x="704850" y="3486150"/>
            <a:ext cx="33337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E3487D-3442-4DA6-8C72-C474BEA8A41A}"/>
              </a:ext>
            </a:extLst>
          </p:cNvPr>
          <p:cNvSpPr>
            <a:spLocks noGrp="1"/>
          </p:cNvSpPr>
          <p:nvPr/>
        </p:nvSpPr>
        <p:spPr>
          <a:xfrm>
            <a:off x="704850" y="3486150"/>
            <a:ext cx="76200" cy="2000250"/>
          </a:xfrm>
          <a:prstGeom prst="rect">
            <a:avLst/>
          </a:prstGeom>
          <a:solidFill>
            <a:srgbClr val="0D94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636E25D-BB95-40EB-B4C1-1A7EFD7162F4}"/>
              </a:ext>
            </a:extLst>
          </p:cNvPr>
          <p:cNvSpPr>
            <a:spLocks noGrp="1"/>
          </p:cNvSpPr>
          <p:nvPr/>
        </p:nvSpPr>
        <p:spPr>
          <a:xfrm>
            <a:off x="933450" y="3714750"/>
            <a:ext cx="457200" cy="457200"/>
          </a:xfrm>
          <a:prstGeom prst="ellipse">
            <a:avLst/>
          </a:prstGeom>
          <a:solidFill>
            <a:srgbClr val="0D9488">
              <a:alpha val="13333"/>
            </a:srgbClr>
          </a:solidFill>
          <a:ln w="1143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B8E5C7-391D-46D5-8D5D-048C20718F55}"/>
              </a:ext>
            </a:extLst>
          </p:cNvPr>
          <p:cNvSpPr>
            <a:spLocks noGrp="1"/>
          </p:cNvSpPr>
          <p:nvPr/>
        </p:nvSpPr>
        <p:spPr>
          <a:xfrm>
            <a:off x="1085850" y="3933825"/>
            <a:ext cx="190500" cy="38100"/>
          </a:xfrm>
          <a:prstGeom prst="rect">
            <a:avLst/>
          </a:prstGeom>
          <a:solidFill>
            <a:srgbClr val="0D94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019EB5-0589-41D9-B140-EF7F7BFAB9F2}"/>
              </a:ext>
            </a:extLst>
          </p:cNvPr>
          <p:cNvSpPr>
            <a:spLocks noGrp="1"/>
          </p:cNvSpPr>
          <p:nvPr/>
        </p:nvSpPr>
        <p:spPr>
          <a:xfrm>
            <a:off x="1162050" y="3857625"/>
            <a:ext cx="38100" cy="190500"/>
          </a:xfrm>
          <a:prstGeom prst="rect">
            <a:avLst/>
          </a:prstGeom>
          <a:solidFill>
            <a:srgbClr val="0D94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C312BC-394A-4A64-A7BC-6C8955E0B289}"/>
              </a:ext>
            </a:extLst>
          </p:cNvPr>
          <p:cNvSpPr>
            <a:spLocks noGrp="1"/>
          </p:cNvSpPr>
          <p:nvPr/>
        </p:nvSpPr>
        <p:spPr>
          <a:xfrm>
            <a:off x="1581150" y="37147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5E59"/>
                </a:solidFill>
              </a:defRPr>
            </a:pPr>
            <a:r>
              <a:rPr sz="1200" b="1">
                <a:solidFill>
                  <a:srgbClr val="115E59"/>
                </a:solidFill>
              </a:rPr>
              <a:t>Analytics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AB56F3-A9CE-49A4-BBDB-8C9A83ED1CBD}"/>
              </a:ext>
            </a:extLst>
          </p:cNvPr>
          <p:cNvSpPr>
            <a:spLocks noGrp="1"/>
          </p:cNvSpPr>
          <p:nvPr/>
        </p:nvSpPr>
        <p:spPr>
          <a:xfrm>
            <a:off x="971550" y="4362450"/>
            <a:ext cx="28003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Dashboards summarize traffic, blocks, device networks, geography, APK health, and service-level signals.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E4DAC5D-D8BD-422D-B7B1-FD589CCFEF55}"/>
              </a:ext>
            </a:extLst>
          </p:cNvPr>
          <p:cNvSpPr>
            <a:spLocks noGrp="1"/>
          </p:cNvSpPr>
          <p:nvPr/>
        </p:nvSpPr>
        <p:spPr>
          <a:xfrm>
            <a:off x="4343400" y="3486150"/>
            <a:ext cx="33337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247294-15D2-4EE4-A950-EFEEECA6303E}"/>
              </a:ext>
            </a:extLst>
          </p:cNvPr>
          <p:cNvSpPr>
            <a:spLocks noGrp="1"/>
          </p:cNvSpPr>
          <p:nvPr/>
        </p:nvSpPr>
        <p:spPr>
          <a:xfrm>
            <a:off x="4343400" y="3486150"/>
            <a:ext cx="76200" cy="20002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E5C646C-741B-4E0A-8CF6-8394F9B1FADA}"/>
              </a:ext>
            </a:extLst>
          </p:cNvPr>
          <p:cNvSpPr>
            <a:spLocks noGrp="1"/>
          </p:cNvSpPr>
          <p:nvPr/>
        </p:nvSpPr>
        <p:spPr>
          <a:xfrm>
            <a:off x="4572000" y="3714750"/>
            <a:ext cx="457200" cy="457200"/>
          </a:xfrm>
          <a:prstGeom prst="ellipse">
            <a:avLst/>
          </a:prstGeom>
          <a:solidFill>
            <a:srgbClr val="4F46E5">
              <a:alpha val="13333"/>
            </a:srgbClr>
          </a:solidFill>
          <a:ln w="1143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5EFFCF-D30A-4B84-BE0D-598381274E8F}"/>
              </a:ext>
            </a:extLst>
          </p:cNvPr>
          <p:cNvSpPr>
            <a:spLocks noGrp="1"/>
          </p:cNvSpPr>
          <p:nvPr/>
        </p:nvSpPr>
        <p:spPr>
          <a:xfrm>
            <a:off x="4724400" y="3933825"/>
            <a:ext cx="190500" cy="3810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1B100D-99AC-4366-A65B-85BD494C77C2}"/>
              </a:ext>
            </a:extLst>
          </p:cNvPr>
          <p:cNvSpPr>
            <a:spLocks noGrp="1"/>
          </p:cNvSpPr>
          <p:nvPr/>
        </p:nvSpPr>
        <p:spPr>
          <a:xfrm>
            <a:off x="4800600" y="3857625"/>
            <a:ext cx="38100" cy="19050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92B6A0-B5A2-49A3-8E9B-6DBE882F1491}"/>
              </a:ext>
            </a:extLst>
          </p:cNvPr>
          <p:cNvSpPr>
            <a:spLocks noGrp="1"/>
          </p:cNvSpPr>
          <p:nvPr/>
        </p:nvSpPr>
        <p:spPr>
          <a:xfrm>
            <a:off x="5219700" y="37147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5E59"/>
                </a:solidFill>
              </a:defRPr>
            </a:pPr>
            <a:r>
              <a:rPr sz="1200" b="1">
                <a:solidFill>
                  <a:srgbClr val="115E59"/>
                </a:solidFill>
              </a:rPr>
              <a:t>Service Ops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76C222F-AA9C-486C-BA80-38AE9E9E6543}"/>
              </a:ext>
            </a:extLst>
          </p:cNvPr>
          <p:cNvSpPr>
            <a:spLocks noGrp="1"/>
          </p:cNvSpPr>
          <p:nvPr/>
        </p:nvSpPr>
        <p:spPr>
          <a:xfrm>
            <a:off x="4610100" y="4362450"/>
            <a:ext cx="28003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F172A"/>
                </a:solidFill>
              </a:defRPr>
            </a:pPr>
            <a:r>
              <a:rPr lang="en-US" sz="1275" b="0" dirty="0">
                <a:solidFill>
                  <a:srgbClr val="0F172A"/>
                </a:solidFill>
              </a:rPr>
              <a:t>Client's</a:t>
            </a:r>
            <a:r>
              <a:rPr sz="1275" b="0" dirty="0">
                <a:solidFill>
                  <a:srgbClr val="0F172A"/>
                </a:solidFill>
              </a:rPr>
              <a:t> onboard services. Admins manage all services. C-Admins onboard only for assigned client accounts.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A37BA86-0E01-4B8D-A9F3-956062B215A4}"/>
              </a:ext>
            </a:extLst>
          </p:cNvPr>
          <p:cNvSpPr>
            <a:spLocks noGrp="1"/>
          </p:cNvSpPr>
          <p:nvPr/>
        </p:nvSpPr>
        <p:spPr>
          <a:xfrm>
            <a:off x="7981950" y="3486150"/>
            <a:ext cx="33337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53A9E43-3477-4484-B5DB-837622C2AD5D}"/>
              </a:ext>
            </a:extLst>
          </p:cNvPr>
          <p:cNvSpPr>
            <a:spLocks noGrp="1"/>
          </p:cNvSpPr>
          <p:nvPr/>
        </p:nvSpPr>
        <p:spPr>
          <a:xfrm>
            <a:off x="7981950" y="3486150"/>
            <a:ext cx="76200" cy="20002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F1A8835-51BC-44A0-B6EE-E3D041DE2FC6}"/>
              </a:ext>
            </a:extLst>
          </p:cNvPr>
          <p:cNvSpPr>
            <a:spLocks noGrp="1"/>
          </p:cNvSpPr>
          <p:nvPr/>
        </p:nvSpPr>
        <p:spPr>
          <a:xfrm>
            <a:off x="8210550" y="3714750"/>
            <a:ext cx="457200" cy="457200"/>
          </a:xfrm>
          <a:prstGeom prst="ellipse">
            <a:avLst/>
          </a:prstGeom>
          <a:solidFill>
            <a:srgbClr val="F59E0B">
              <a:alpha val="13333"/>
            </a:srgbClr>
          </a:solidFill>
          <a:ln w="1143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5C37CC-D2F7-469D-B8B2-2B9DF51B0F11}"/>
              </a:ext>
            </a:extLst>
          </p:cNvPr>
          <p:cNvSpPr>
            <a:spLocks noGrp="1"/>
          </p:cNvSpPr>
          <p:nvPr/>
        </p:nvSpPr>
        <p:spPr>
          <a:xfrm>
            <a:off x="8362950" y="3933825"/>
            <a:ext cx="190500" cy="381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5EAF6D-B9B7-4D85-BF83-FFD417F830DE}"/>
              </a:ext>
            </a:extLst>
          </p:cNvPr>
          <p:cNvSpPr>
            <a:spLocks noGrp="1"/>
          </p:cNvSpPr>
          <p:nvPr/>
        </p:nvSpPr>
        <p:spPr>
          <a:xfrm>
            <a:off x="8439150" y="3857625"/>
            <a:ext cx="38100" cy="1905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9FB071-C1CD-46C4-AE62-BB20FFA58CAC}"/>
              </a:ext>
            </a:extLst>
          </p:cNvPr>
          <p:cNvSpPr>
            <a:spLocks noGrp="1"/>
          </p:cNvSpPr>
          <p:nvPr/>
        </p:nvSpPr>
        <p:spPr>
          <a:xfrm>
            <a:off x="8858250" y="37147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5E59"/>
                </a:solidFill>
              </a:defRPr>
            </a:pPr>
            <a:r>
              <a:rPr sz="1200" b="1">
                <a:solidFill>
                  <a:srgbClr val="115E59"/>
                </a:solidFill>
              </a:rPr>
              <a:t>Access Control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F20EC7-0384-4827-84C0-C28ED5E2B376}"/>
              </a:ext>
            </a:extLst>
          </p:cNvPr>
          <p:cNvSpPr>
            <a:spLocks noGrp="1"/>
          </p:cNvSpPr>
          <p:nvPr/>
        </p:nvSpPr>
        <p:spPr>
          <a:xfrm>
            <a:off x="8248650" y="4362450"/>
            <a:ext cx="28003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Every major workflow changes by role: Admin, Client/Partner, or delegated C-Admin.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5EB391A-EED0-45E3-B95A-5CB28B4547F7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1428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8C95029-5348-4467-8381-E6E2D52E4312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MCP Shield demo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327AD0F-62A2-47D8-9514-7BCD5069CB33}"/>
              </a:ext>
            </a:extLst>
          </p:cNvPr>
          <p:cNvSpPr>
            <a:spLocks noGrp="1"/>
          </p:cNvSpPr>
          <p:nvPr/>
        </p:nvSpPr>
        <p:spPr>
          <a:xfrm>
            <a:off x="10591800" y="63627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02 / 09</a:t>
            </a:r>
          </a:p>
        </p:txBody>
      </p:sp>
    </p:spTree>
    <p:extLst>
      <p:ext uri="{BB962C8B-B14F-4D97-AF65-F5344CB8AC3E}">
        <p14:creationId xmlns:p14="http://schemas.microsoft.com/office/powerpoint/2010/main" val="1692533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59E840-FE92-46C2-A4D4-6D1F3FDFC96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5E59"/>
                </a:solidFill>
              </a:defRPr>
            </a:pPr>
            <a:r>
              <a:rPr sz="900" b="1">
                <a:solidFill>
                  <a:srgbClr val="115E59"/>
                </a:solidFill>
              </a:rPr>
              <a:t>ROLE MODEL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A3AFEA7-BB02-4EAD-9FD9-DBE9274FBA5C}"/>
              </a:ext>
            </a:extLst>
          </p:cNvPr>
          <p:cNvSpPr>
            <a:spLocks noGrp="1"/>
          </p:cNvSpPr>
          <p:nvPr/>
        </p:nvSpPr>
        <p:spPr>
          <a:xfrm>
            <a:off x="10972800" y="285750"/>
            <a:ext cx="247650" cy="247650"/>
          </a:xfrm>
          <a:prstGeom prst="ellipse">
            <a:avLst/>
          </a:prstGeom>
          <a:solidFill>
            <a:srgbClr val="0D9488"/>
          </a:solidFill>
          <a:ln w="9525">
            <a:solidFill>
              <a:srgbClr val="115E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F5B126E-A43D-4C37-8F4B-9D57865AB01A}"/>
              </a:ext>
            </a:extLst>
          </p:cNvPr>
          <p:cNvSpPr>
            <a:spLocks noGrp="1"/>
          </p:cNvSpPr>
          <p:nvPr/>
        </p:nvSpPr>
        <p:spPr>
          <a:xfrm>
            <a:off x="11315700" y="285750"/>
            <a:ext cx="247650" cy="247650"/>
          </a:xfrm>
          <a:prstGeom prst="ellipse">
            <a:avLst/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6C2E9E-7151-4AE3-9012-E446C4B96966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Three account experiences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CF06E8-1314-44CD-9589-BDFB90ED3F0E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7239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core demo story is the permission boundary: global Admin, self-service Client, and delegated C-Admin.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D119CCD-8466-4259-B67C-D95CDC3D561C}"/>
              </a:ext>
            </a:extLst>
          </p:cNvPr>
          <p:cNvSpPr>
            <a:spLocks noGrp="1"/>
          </p:cNvSpPr>
          <p:nvPr/>
        </p:nvSpPr>
        <p:spPr>
          <a:xfrm>
            <a:off x="704850" y="3333750"/>
            <a:ext cx="3333750" cy="215265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ECE2E5-20BD-4C0B-989E-F33D1B8006DE}"/>
              </a:ext>
            </a:extLst>
          </p:cNvPr>
          <p:cNvSpPr>
            <a:spLocks noGrp="1"/>
          </p:cNvSpPr>
          <p:nvPr/>
        </p:nvSpPr>
        <p:spPr>
          <a:xfrm>
            <a:off x="704850" y="3333750"/>
            <a:ext cx="3333750" cy="7620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27B7BF-52D6-4DF7-B625-6A13252D775F}"/>
              </a:ext>
            </a:extLst>
          </p:cNvPr>
          <p:cNvSpPr>
            <a:spLocks noGrp="1"/>
          </p:cNvSpPr>
          <p:nvPr/>
        </p:nvSpPr>
        <p:spPr>
          <a:xfrm>
            <a:off x="933450" y="3581400"/>
            <a:ext cx="2876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Admin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176BB8-3E92-4BF5-BF96-8DDCC8753997}"/>
              </a:ext>
            </a:extLst>
          </p:cNvPr>
          <p:cNvSpPr>
            <a:spLocks noGrp="1"/>
          </p:cNvSpPr>
          <p:nvPr/>
        </p:nvSpPr>
        <p:spPr>
          <a:xfrm>
            <a:off x="933450" y="4133850"/>
            <a:ext cx="2876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5E59"/>
                </a:solidFill>
              </a:defRPr>
            </a:pPr>
            <a:r>
              <a:rPr sz="1275" b="1">
                <a:solidFill>
                  <a:srgbClr val="115E59"/>
                </a:solidFill>
              </a:rPr>
              <a:t>Global visibility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EE3C87-1650-4E91-8C78-B498FFA869D0}"/>
              </a:ext>
            </a:extLst>
          </p:cNvPr>
          <p:cNvSpPr>
            <a:spLocks noGrp="1"/>
          </p:cNvSpPr>
          <p:nvPr/>
        </p:nvSpPr>
        <p:spPr>
          <a:xfrm>
            <a:off x="933450" y="4533900"/>
            <a:ext cx="2876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Can view users, services, clients, C-Admins, and all reports.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63C877E-CB8B-48D5-9D79-24F3606E0E75}"/>
              </a:ext>
            </a:extLst>
          </p:cNvPr>
          <p:cNvSpPr>
            <a:spLocks noGrp="1"/>
          </p:cNvSpPr>
          <p:nvPr/>
        </p:nvSpPr>
        <p:spPr>
          <a:xfrm>
            <a:off x="4343400" y="3333750"/>
            <a:ext cx="3333750" cy="215265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245C1D-5FC6-43D3-A50F-D9CA63BEFA51}"/>
              </a:ext>
            </a:extLst>
          </p:cNvPr>
          <p:cNvSpPr>
            <a:spLocks noGrp="1"/>
          </p:cNvSpPr>
          <p:nvPr/>
        </p:nvSpPr>
        <p:spPr>
          <a:xfrm>
            <a:off x="4343400" y="3333750"/>
            <a:ext cx="333375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CE5843-F82F-4D4A-B495-E3F4C6DC0530}"/>
              </a:ext>
            </a:extLst>
          </p:cNvPr>
          <p:cNvSpPr>
            <a:spLocks noGrp="1"/>
          </p:cNvSpPr>
          <p:nvPr/>
        </p:nvSpPr>
        <p:spPr>
          <a:xfrm>
            <a:off x="4572000" y="3581400"/>
            <a:ext cx="2876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Client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713111-B69C-483E-867E-8B713830E296}"/>
              </a:ext>
            </a:extLst>
          </p:cNvPr>
          <p:cNvSpPr>
            <a:spLocks noGrp="1"/>
          </p:cNvSpPr>
          <p:nvPr/>
        </p:nvSpPr>
        <p:spPr>
          <a:xfrm>
            <a:off x="4572000" y="4133850"/>
            <a:ext cx="2876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5E59"/>
                </a:solidFill>
              </a:defRPr>
            </a:pPr>
            <a:r>
              <a:rPr sz="1275" b="1">
                <a:solidFill>
                  <a:srgbClr val="115E59"/>
                </a:solidFill>
              </a:rPr>
              <a:t>Own account only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48B943-D88D-4F5C-AA40-DF4D2ACBBBC4}"/>
              </a:ext>
            </a:extLst>
          </p:cNvPr>
          <p:cNvSpPr>
            <a:spLocks noGrp="1"/>
          </p:cNvSpPr>
          <p:nvPr/>
        </p:nvSpPr>
        <p:spPr>
          <a:xfrm>
            <a:off x="4572000" y="4533900"/>
            <a:ext cx="2876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Can onboard services and generate reports only under itself.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858F4FE-9BED-4115-9848-DFEE0388E36C}"/>
              </a:ext>
            </a:extLst>
          </p:cNvPr>
          <p:cNvSpPr>
            <a:spLocks noGrp="1"/>
          </p:cNvSpPr>
          <p:nvPr/>
        </p:nvSpPr>
        <p:spPr>
          <a:xfrm>
            <a:off x="7981950" y="3333750"/>
            <a:ext cx="3333750" cy="215265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7F5B0C-DCDD-4140-B94C-6F8EDE960EAD}"/>
              </a:ext>
            </a:extLst>
          </p:cNvPr>
          <p:cNvSpPr>
            <a:spLocks noGrp="1"/>
          </p:cNvSpPr>
          <p:nvPr/>
        </p:nvSpPr>
        <p:spPr>
          <a:xfrm>
            <a:off x="7981950" y="3333750"/>
            <a:ext cx="3333750" cy="76200"/>
          </a:xfrm>
          <a:prstGeom prst="rect">
            <a:avLst/>
          </a:prstGeom>
          <a:solidFill>
            <a:srgbClr val="0D94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0CFBD4-47AA-42BB-9F78-FE3954C41947}"/>
              </a:ext>
            </a:extLst>
          </p:cNvPr>
          <p:cNvSpPr>
            <a:spLocks noGrp="1"/>
          </p:cNvSpPr>
          <p:nvPr/>
        </p:nvSpPr>
        <p:spPr>
          <a:xfrm>
            <a:off x="8210550" y="3581400"/>
            <a:ext cx="2876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C-Admin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D2FC01-6998-47AD-BDE5-400250A942A1}"/>
              </a:ext>
            </a:extLst>
          </p:cNvPr>
          <p:cNvSpPr>
            <a:spLocks noGrp="1"/>
          </p:cNvSpPr>
          <p:nvPr/>
        </p:nvSpPr>
        <p:spPr>
          <a:xfrm>
            <a:off x="8210550" y="4133850"/>
            <a:ext cx="2876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5E59"/>
                </a:solidFill>
              </a:defRPr>
            </a:pPr>
            <a:r>
              <a:rPr sz="1275" b="1">
                <a:solidFill>
                  <a:srgbClr val="115E59"/>
                </a:solidFill>
              </a:rPr>
              <a:t>Delegated scope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E51218-C602-42F3-ADD3-536B19FC82F6}"/>
              </a:ext>
            </a:extLst>
          </p:cNvPr>
          <p:cNvSpPr>
            <a:spLocks noGrp="1"/>
          </p:cNvSpPr>
          <p:nvPr/>
        </p:nvSpPr>
        <p:spPr>
          <a:xfrm>
            <a:off x="8210550" y="4533900"/>
            <a:ext cx="2876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Can operate for assigned clients plus its own C-Admin account.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021D7F-917C-4A3D-A639-4DC0C2038498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1428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6D0552-F2B9-42D3-A708-67632701A256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MCP Shield demo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B8B9379-E58D-4F76-B148-6B9408BCFF7A}"/>
              </a:ext>
            </a:extLst>
          </p:cNvPr>
          <p:cNvSpPr>
            <a:spLocks noGrp="1"/>
          </p:cNvSpPr>
          <p:nvPr/>
        </p:nvSpPr>
        <p:spPr>
          <a:xfrm>
            <a:off x="10591800" y="63627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03 / 09</a:t>
            </a:r>
          </a:p>
        </p:txBody>
      </p:sp>
    </p:spTree>
    <p:extLst>
      <p:ext uri="{BB962C8B-B14F-4D97-AF65-F5344CB8AC3E}">
        <p14:creationId xmlns:p14="http://schemas.microsoft.com/office/powerpoint/2010/main" val="1089754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70F14F-9930-4E76-877A-957692D8763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5E59"/>
                </a:solidFill>
              </a:defRPr>
            </a:pPr>
            <a:r>
              <a:rPr sz="900" b="1">
                <a:solidFill>
                  <a:srgbClr val="115E59"/>
                </a:solidFill>
              </a:rPr>
              <a:t>C-ADMIN SCOPE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CA7371A-1504-4F1C-B4B4-D1A16BE13F9D}"/>
              </a:ext>
            </a:extLst>
          </p:cNvPr>
          <p:cNvSpPr>
            <a:spLocks noGrp="1"/>
          </p:cNvSpPr>
          <p:nvPr/>
        </p:nvSpPr>
        <p:spPr>
          <a:xfrm>
            <a:off x="10972800" y="285750"/>
            <a:ext cx="247650" cy="247650"/>
          </a:xfrm>
          <a:prstGeom prst="ellipse">
            <a:avLst/>
          </a:prstGeom>
          <a:solidFill>
            <a:srgbClr val="0D9488"/>
          </a:solidFill>
          <a:ln w="9525">
            <a:solidFill>
              <a:srgbClr val="115E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23CBB46-9B37-4E1F-B6DA-27FA9A8B60AF}"/>
              </a:ext>
            </a:extLst>
          </p:cNvPr>
          <p:cNvSpPr>
            <a:spLocks noGrp="1"/>
          </p:cNvSpPr>
          <p:nvPr/>
        </p:nvSpPr>
        <p:spPr>
          <a:xfrm>
            <a:off x="11315700" y="285750"/>
            <a:ext cx="247650" cy="247650"/>
          </a:xfrm>
          <a:prstGeom prst="ellipse">
            <a:avLst/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8F9E57-29C8-4812-8F3D-97D638E31CF5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C-Admin is delegated, not global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6339E2-B615-4279-AF76-3C1CF4FF195D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7239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Liam Patel can operate only inside assigned client accounts and assigned service access.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B468FEB-6C92-4E26-8D7D-B7239D1F36CC}"/>
              </a:ext>
            </a:extLst>
          </p:cNvPr>
          <p:cNvSpPr>
            <a:spLocks noGrp="1"/>
          </p:cNvSpPr>
          <p:nvPr/>
        </p:nvSpPr>
        <p:spPr>
          <a:xfrm>
            <a:off x="8191500" y="990600"/>
            <a:ext cx="895350" cy="342900"/>
          </a:xfrm>
          <a:prstGeom prst="roundRect">
            <a:avLst>
              <a:gd name="adj" fmla="val 22222"/>
            </a:avLst>
          </a:prstGeom>
          <a:solidFill>
            <a:srgbClr val="4F46E5">
              <a:alpha val="9412"/>
            </a:srgbClr>
          </a:solidFill>
          <a:ln w="9525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5E418D-1305-4FFC-A948-FA03DAECDFA6}"/>
              </a:ext>
            </a:extLst>
          </p:cNvPr>
          <p:cNvSpPr>
            <a:spLocks noGrp="1"/>
          </p:cNvSpPr>
          <p:nvPr/>
        </p:nvSpPr>
        <p:spPr>
          <a:xfrm>
            <a:off x="8286750" y="1066800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4F46E5"/>
                </a:solidFill>
              </a:defRPr>
            </a:pPr>
            <a:r>
              <a:rPr sz="900" b="1">
                <a:solidFill>
                  <a:srgbClr val="4F46E5"/>
                </a:solidFill>
              </a:rPr>
              <a:t>Admin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C838FD2-347E-4056-B01C-176D4B498A09}"/>
              </a:ext>
            </a:extLst>
          </p:cNvPr>
          <p:cNvSpPr>
            <a:spLocks noGrp="1"/>
          </p:cNvSpPr>
          <p:nvPr/>
        </p:nvSpPr>
        <p:spPr>
          <a:xfrm>
            <a:off x="9334500" y="990600"/>
            <a:ext cx="895350" cy="342900"/>
          </a:xfrm>
          <a:prstGeom prst="roundRect">
            <a:avLst>
              <a:gd name="adj" fmla="val 22222"/>
            </a:avLst>
          </a:prstGeom>
          <a:solidFill>
            <a:srgbClr val="2563EB">
              <a:alpha val="9412"/>
            </a:srgbClr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69CEBA-7609-4549-B0D8-4335129AD48C}"/>
              </a:ext>
            </a:extLst>
          </p:cNvPr>
          <p:cNvSpPr>
            <a:spLocks noGrp="1"/>
          </p:cNvSpPr>
          <p:nvPr/>
        </p:nvSpPr>
        <p:spPr>
          <a:xfrm>
            <a:off x="9429750" y="1066800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Client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A6FB2E6-776A-40FE-BCF5-7CDD8B2534E5}"/>
              </a:ext>
            </a:extLst>
          </p:cNvPr>
          <p:cNvSpPr>
            <a:spLocks noGrp="1"/>
          </p:cNvSpPr>
          <p:nvPr/>
        </p:nvSpPr>
        <p:spPr>
          <a:xfrm>
            <a:off x="10477500" y="990600"/>
            <a:ext cx="895350" cy="342900"/>
          </a:xfrm>
          <a:prstGeom prst="roundRect">
            <a:avLst>
              <a:gd name="adj" fmla="val 22222"/>
            </a:avLst>
          </a:prstGeom>
          <a:solidFill>
            <a:srgbClr val="0D9488">
              <a:alpha val="9412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A38296-B810-444F-AABB-B28580615B81}"/>
              </a:ext>
            </a:extLst>
          </p:cNvPr>
          <p:cNvSpPr>
            <a:spLocks noGrp="1"/>
          </p:cNvSpPr>
          <p:nvPr/>
        </p:nvSpPr>
        <p:spPr>
          <a:xfrm>
            <a:off x="10572750" y="1066800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D9488"/>
                </a:solidFill>
              </a:defRPr>
            </a:pPr>
            <a:r>
              <a:rPr sz="900" b="1">
                <a:solidFill>
                  <a:srgbClr val="0D9488"/>
                </a:solidFill>
              </a:rPr>
              <a:t>C-Admin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581476F-C021-4E9D-B0C3-9D8BFF51DA5D}"/>
              </a:ext>
            </a:extLst>
          </p:cNvPr>
          <p:cNvSpPr>
            <a:spLocks noGrp="1"/>
          </p:cNvSpPr>
          <p:nvPr/>
        </p:nvSpPr>
        <p:spPr>
          <a:xfrm>
            <a:off x="704850" y="3486150"/>
            <a:ext cx="33337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E2518B-EACC-4DAC-B7AA-C64B39ACF089}"/>
              </a:ext>
            </a:extLst>
          </p:cNvPr>
          <p:cNvSpPr>
            <a:spLocks noGrp="1"/>
          </p:cNvSpPr>
          <p:nvPr/>
        </p:nvSpPr>
        <p:spPr>
          <a:xfrm>
            <a:off x="704850" y="3486150"/>
            <a:ext cx="76200" cy="2000250"/>
          </a:xfrm>
          <a:prstGeom prst="rect">
            <a:avLst/>
          </a:prstGeom>
          <a:solidFill>
            <a:srgbClr val="0D94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722EE4D-6AE3-4440-9328-5845E53CD062}"/>
              </a:ext>
            </a:extLst>
          </p:cNvPr>
          <p:cNvSpPr>
            <a:spLocks noGrp="1"/>
          </p:cNvSpPr>
          <p:nvPr/>
        </p:nvSpPr>
        <p:spPr>
          <a:xfrm>
            <a:off x="933450" y="3714750"/>
            <a:ext cx="457200" cy="457200"/>
          </a:xfrm>
          <a:prstGeom prst="ellipse">
            <a:avLst/>
          </a:prstGeom>
          <a:solidFill>
            <a:srgbClr val="0D9488">
              <a:alpha val="13333"/>
            </a:srgbClr>
          </a:solidFill>
          <a:ln w="1143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4DEA71-8E50-4A8D-AA47-FCF8C349E84B}"/>
              </a:ext>
            </a:extLst>
          </p:cNvPr>
          <p:cNvSpPr>
            <a:spLocks noGrp="1"/>
          </p:cNvSpPr>
          <p:nvPr/>
        </p:nvSpPr>
        <p:spPr>
          <a:xfrm>
            <a:off x="1085850" y="3933825"/>
            <a:ext cx="190500" cy="38100"/>
          </a:xfrm>
          <a:prstGeom prst="rect">
            <a:avLst/>
          </a:prstGeom>
          <a:solidFill>
            <a:srgbClr val="0D94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D65BE2-3617-4255-9EA0-9E01027028B4}"/>
              </a:ext>
            </a:extLst>
          </p:cNvPr>
          <p:cNvSpPr>
            <a:spLocks noGrp="1"/>
          </p:cNvSpPr>
          <p:nvPr/>
        </p:nvSpPr>
        <p:spPr>
          <a:xfrm>
            <a:off x="1162050" y="3857625"/>
            <a:ext cx="38100" cy="190500"/>
          </a:xfrm>
          <a:prstGeom prst="rect">
            <a:avLst/>
          </a:prstGeom>
          <a:solidFill>
            <a:srgbClr val="0D94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AD2795-2FF6-45E5-9E2E-DB79E3A59C62}"/>
              </a:ext>
            </a:extLst>
          </p:cNvPr>
          <p:cNvSpPr>
            <a:spLocks noGrp="1"/>
          </p:cNvSpPr>
          <p:nvPr/>
        </p:nvSpPr>
        <p:spPr>
          <a:xfrm>
            <a:off x="1581150" y="37147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5E59"/>
                </a:solidFill>
              </a:defRPr>
            </a:pPr>
            <a:r>
              <a:rPr sz="1200" b="1">
                <a:solidFill>
                  <a:srgbClr val="115E59"/>
                </a:solidFill>
              </a:rPr>
              <a:t>Assigned clients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E6F1C9-E8DC-4CE7-B3FC-0A22986FA5FC}"/>
              </a:ext>
            </a:extLst>
          </p:cNvPr>
          <p:cNvSpPr>
            <a:spLocks noGrp="1"/>
          </p:cNvSpPr>
          <p:nvPr/>
        </p:nvSpPr>
        <p:spPr>
          <a:xfrm>
            <a:off x="971550" y="4362450"/>
            <a:ext cx="28003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True Digital, GVI, and Teleinfotech are assigned to the demo C-Admin account.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AAE0D7B-2AB9-48F4-A962-8C846C93E4F7}"/>
              </a:ext>
            </a:extLst>
          </p:cNvPr>
          <p:cNvSpPr>
            <a:spLocks noGrp="1"/>
          </p:cNvSpPr>
          <p:nvPr/>
        </p:nvSpPr>
        <p:spPr>
          <a:xfrm>
            <a:off x="4343400" y="3486150"/>
            <a:ext cx="33337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42CA4D-78CB-41A8-BD53-F9D5E4F85AAE}"/>
              </a:ext>
            </a:extLst>
          </p:cNvPr>
          <p:cNvSpPr>
            <a:spLocks noGrp="1"/>
          </p:cNvSpPr>
          <p:nvPr/>
        </p:nvSpPr>
        <p:spPr>
          <a:xfrm>
            <a:off x="4343400" y="3486150"/>
            <a:ext cx="76200" cy="20002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5E7E15B-1777-4898-8B2B-7C5084C728C1}"/>
              </a:ext>
            </a:extLst>
          </p:cNvPr>
          <p:cNvSpPr>
            <a:spLocks noGrp="1"/>
          </p:cNvSpPr>
          <p:nvPr/>
        </p:nvSpPr>
        <p:spPr>
          <a:xfrm>
            <a:off x="4572000" y="3714750"/>
            <a:ext cx="457200" cy="457200"/>
          </a:xfrm>
          <a:prstGeom prst="ellipse">
            <a:avLst/>
          </a:prstGeom>
          <a:solidFill>
            <a:srgbClr val="4F46E5">
              <a:alpha val="13333"/>
            </a:srgbClr>
          </a:solidFill>
          <a:ln w="1143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36B864-E934-4B5C-BB08-BBFA00D9E867}"/>
              </a:ext>
            </a:extLst>
          </p:cNvPr>
          <p:cNvSpPr>
            <a:spLocks noGrp="1"/>
          </p:cNvSpPr>
          <p:nvPr/>
        </p:nvSpPr>
        <p:spPr>
          <a:xfrm>
            <a:off x="4724400" y="3933825"/>
            <a:ext cx="190500" cy="3810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3C263B-C00F-4C0A-9812-4DDD53D8DFC5}"/>
              </a:ext>
            </a:extLst>
          </p:cNvPr>
          <p:cNvSpPr>
            <a:spLocks noGrp="1"/>
          </p:cNvSpPr>
          <p:nvPr/>
        </p:nvSpPr>
        <p:spPr>
          <a:xfrm>
            <a:off x="4800600" y="3857625"/>
            <a:ext cx="38100" cy="19050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A965562-186C-4C97-82F8-05BCDC504887}"/>
              </a:ext>
            </a:extLst>
          </p:cNvPr>
          <p:cNvSpPr>
            <a:spLocks noGrp="1"/>
          </p:cNvSpPr>
          <p:nvPr/>
        </p:nvSpPr>
        <p:spPr>
          <a:xfrm>
            <a:off x="5219700" y="37147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5E59"/>
                </a:solidFill>
              </a:defRPr>
            </a:pPr>
            <a:r>
              <a:rPr sz="1200" b="1">
                <a:solidFill>
                  <a:srgbClr val="115E59"/>
                </a:solidFill>
              </a:rPr>
              <a:t>Assigned services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4FBD85-95B2-4F55-ACC0-8E51DD1EF744}"/>
              </a:ext>
            </a:extLst>
          </p:cNvPr>
          <p:cNvSpPr>
            <a:spLocks noGrp="1"/>
          </p:cNvSpPr>
          <p:nvPr/>
        </p:nvSpPr>
        <p:spPr>
          <a:xfrm>
            <a:off x="4610100" y="4362450"/>
            <a:ext cx="28003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Each assigned client has its own allowed service list. Access is not shared across all clients.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CB71265-D387-465C-BDB0-E5E3D9654A70}"/>
              </a:ext>
            </a:extLst>
          </p:cNvPr>
          <p:cNvSpPr>
            <a:spLocks noGrp="1"/>
          </p:cNvSpPr>
          <p:nvPr/>
        </p:nvSpPr>
        <p:spPr>
          <a:xfrm>
            <a:off x="7981950" y="3486150"/>
            <a:ext cx="33337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73AB6C-B103-4A4B-BF2D-77E89735CC3C}"/>
              </a:ext>
            </a:extLst>
          </p:cNvPr>
          <p:cNvSpPr>
            <a:spLocks noGrp="1"/>
          </p:cNvSpPr>
          <p:nvPr/>
        </p:nvSpPr>
        <p:spPr>
          <a:xfrm>
            <a:off x="7981950" y="3486150"/>
            <a:ext cx="76200" cy="20002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3BCCB0B-D13B-4C5E-AB12-32BF00E5AA28}"/>
              </a:ext>
            </a:extLst>
          </p:cNvPr>
          <p:cNvSpPr>
            <a:spLocks noGrp="1"/>
          </p:cNvSpPr>
          <p:nvPr/>
        </p:nvSpPr>
        <p:spPr>
          <a:xfrm>
            <a:off x="8210550" y="3714750"/>
            <a:ext cx="457200" cy="457200"/>
          </a:xfrm>
          <a:prstGeom prst="ellipse">
            <a:avLst/>
          </a:prstGeom>
          <a:solidFill>
            <a:srgbClr val="F59E0B">
              <a:alpha val="13333"/>
            </a:srgbClr>
          </a:solidFill>
          <a:ln w="1143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AFF1D6-D041-454C-8EEA-26CED2D08C5C}"/>
              </a:ext>
            </a:extLst>
          </p:cNvPr>
          <p:cNvSpPr>
            <a:spLocks noGrp="1"/>
          </p:cNvSpPr>
          <p:nvPr/>
        </p:nvSpPr>
        <p:spPr>
          <a:xfrm>
            <a:off x="8362950" y="3933825"/>
            <a:ext cx="190500" cy="381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89C7F7-2AA3-4AAE-B796-458013878781}"/>
              </a:ext>
            </a:extLst>
          </p:cNvPr>
          <p:cNvSpPr>
            <a:spLocks noGrp="1"/>
          </p:cNvSpPr>
          <p:nvPr/>
        </p:nvSpPr>
        <p:spPr>
          <a:xfrm>
            <a:off x="8439150" y="3857625"/>
            <a:ext cx="38100" cy="1905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F8E795-18DD-45A0-BF66-3CF948AD5C8E}"/>
              </a:ext>
            </a:extLst>
          </p:cNvPr>
          <p:cNvSpPr>
            <a:spLocks noGrp="1"/>
          </p:cNvSpPr>
          <p:nvPr/>
        </p:nvSpPr>
        <p:spPr>
          <a:xfrm>
            <a:off x="8858250" y="37147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5E59"/>
                </a:solidFill>
              </a:defRPr>
            </a:pPr>
            <a:r>
              <a:rPr sz="1200" b="1">
                <a:solidFill>
                  <a:srgbClr val="115E59"/>
                </a:solidFill>
              </a:rPr>
              <a:t>Blocked boundary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9112618-A3DD-4BB8-ADBF-3EF30161F7DA}"/>
              </a:ext>
            </a:extLst>
          </p:cNvPr>
          <p:cNvSpPr>
            <a:spLocks noGrp="1"/>
          </p:cNvSpPr>
          <p:nvPr/>
        </p:nvSpPr>
        <p:spPr>
          <a:xfrm>
            <a:off x="8248650" y="4362450"/>
            <a:ext cx="28003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Unassigned clients, global user management, and admin-only areas stay outside the C-Admin scope.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AEADB39-F273-4FF6-A85B-367D10B88A09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1428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3208C2C-A4A2-46F4-A24B-1C6473F47E12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MCP Shield demo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9F36936-F324-457F-9EDF-EEBAB6F66834}"/>
              </a:ext>
            </a:extLst>
          </p:cNvPr>
          <p:cNvSpPr>
            <a:spLocks noGrp="1"/>
          </p:cNvSpPr>
          <p:nvPr/>
        </p:nvSpPr>
        <p:spPr>
          <a:xfrm>
            <a:off x="10591800" y="63627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04 / 09</a:t>
            </a:r>
          </a:p>
        </p:txBody>
      </p:sp>
    </p:spTree>
    <p:extLst>
      <p:ext uri="{BB962C8B-B14F-4D97-AF65-F5344CB8AC3E}">
        <p14:creationId xmlns:p14="http://schemas.microsoft.com/office/powerpoint/2010/main" val="940309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1A6059-9913-4994-A3F7-BFC0E699985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5E59"/>
                </a:solidFill>
              </a:defRPr>
            </a:pPr>
            <a:r>
              <a:rPr sz="900" b="1">
                <a:solidFill>
                  <a:srgbClr val="115E59"/>
                </a:solidFill>
              </a:rPr>
              <a:t>SERVICE ONBOARDING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B2481F3-4FB4-45A7-B90E-16D46EDAB868}"/>
              </a:ext>
            </a:extLst>
          </p:cNvPr>
          <p:cNvSpPr>
            <a:spLocks noGrp="1"/>
          </p:cNvSpPr>
          <p:nvPr/>
        </p:nvSpPr>
        <p:spPr>
          <a:xfrm>
            <a:off x="10972800" y="285750"/>
            <a:ext cx="247650" cy="247650"/>
          </a:xfrm>
          <a:prstGeom prst="ellipse">
            <a:avLst/>
          </a:prstGeom>
          <a:solidFill>
            <a:srgbClr val="0D9488"/>
          </a:solidFill>
          <a:ln w="9525">
            <a:solidFill>
              <a:srgbClr val="115E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B23C527-434C-4331-B5FA-7DB0C8C6370A}"/>
              </a:ext>
            </a:extLst>
          </p:cNvPr>
          <p:cNvSpPr>
            <a:spLocks noGrp="1"/>
          </p:cNvSpPr>
          <p:nvPr/>
        </p:nvSpPr>
        <p:spPr>
          <a:xfrm>
            <a:off x="11315700" y="285750"/>
            <a:ext cx="247650" cy="247650"/>
          </a:xfrm>
          <a:prstGeom prst="ellipse">
            <a:avLst/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8F6AF0-7AEA-4E3C-8C6F-70A6C438C5B2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Same form, scoped owner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4EB9A7-91E6-41A6-BD53-C71421D9212F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7239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C-Admin uses the normal client service onboarding flow, with one extra professional step: choose the assigned client owner.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28DF37C-9918-4681-9E48-333A30165EC8}"/>
              </a:ext>
            </a:extLst>
          </p:cNvPr>
          <p:cNvSpPr>
            <a:spLocks noGrp="1"/>
          </p:cNvSpPr>
          <p:nvPr/>
        </p:nvSpPr>
        <p:spPr>
          <a:xfrm>
            <a:off x="742950" y="3276600"/>
            <a:ext cx="23622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1596A7E-DD0C-4D44-ADE4-6ABB1F35BC4D}"/>
              </a:ext>
            </a:extLst>
          </p:cNvPr>
          <p:cNvSpPr>
            <a:spLocks noGrp="1"/>
          </p:cNvSpPr>
          <p:nvPr/>
        </p:nvSpPr>
        <p:spPr>
          <a:xfrm>
            <a:off x="971550" y="3543300"/>
            <a:ext cx="400050" cy="400050"/>
          </a:xfrm>
          <a:prstGeom prst="ellipse">
            <a:avLst/>
          </a:prstGeom>
          <a:solidFill>
            <a:srgbClr val="0D9488">
              <a:alpha val="13333"/>
            </a:srgbClr>
          </a:solidFill>
          <a:ln w="1143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09A54B-F90F-4B02-BF95-FDB341C79160}"/>
              </a:ext>
            </a:extLst>
          </p:cNvPr>
          <p:cNvSpPr>
            <a:spLocks noGrp="1"/>
          </p:cNvSpPr>
          <p:nvPr/>
        </p:nvSpPr>
        <p:spPr>
          <a:xfrm>
            <a:off x="1085850" y="3629025"/>
            <a:ext cx="171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15E59"/>
                </a:solidFill>
              </a:defRPr>
            </a:pPr>
            <a:r>
              <a:rPr sz="1350" b="1">
                <a:solidFill>
                  <a:srgbClr val="115E59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C18B76-E663-456D-A22F-14A7790D8AA0}"/>
              </a:ext>
            </a:extLst>
          </p:cNvPr>
          <p:cNvSpPr>
            <a:spLocks noGrp="1"/>
          </p:cNvSpPr>
          <p:nvPr/>
        </p:nvSpPr>
        <p:spPr>
          <a:xfrm>
            <a:off x="971550" y="41338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Admin setup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C28179-7966-4188-875C-A71537D3085E}"/>
              </a:ext>
            </a:extLst>
          </p:cNvPr>
          <p:cNvSpPr>
            <a:spLocks noGrp="1"/>
          </p:cNvSpPr>
          <p:nvPr/>
        </p:nvSpPr>
        <p:spPr>
          <a:xfrm>
            <a:off x="971550" y="4495800"/>
            <a:ext cx="1885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Assign clients and service access to C-Admin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1C95E05-3FA9-47E9-A373-E6223B4EAA55}"/>
              </a:ext>
            </a:extLst>
          </p:cNvPr>
          <p:cNvSpPr>
            <a:spLocks noGrp="1"/>
          </p:cNvSpPr>
          <p:nvPr/>
        </p:nvSpPr>
        <p:spPr>
          <a:xfrm>
            <a:off x="3143250" y="3962400"/>
            <a:ext cx="323850" cy="266700"/>
          </a:xfrm>
          <a:prstGeom prst="rightArrow">
            <a:avLst/>
          </a:prstGeom>
          <a:solidFill>
            <a:srgbClr val="0D94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7E1956A-105A-408D-AAEF-2AEB35B1CEC1}"/>
              </a:ext>
            </a:extLst>
          </p:cNvPr>
          <p:cNvSpPr>
            <a:spLocks noGrp="1"/>
          </p:cNvSpPr>
          <p:nvPr/>
        </p:nvSpPr>
        <p:spPr>
          <a:xfrm>
            <a:off x="3524250" y="3276600"/>
            <a:ext cx="23622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6DCC0B5-BAF8-481C-AC78-F9A016145001}"/>
              </a:ext>
            </a:extLst>
          </p:cNvPr>
          <p:cNvSpPr>
            <a:spLocks noGrp="1"/>
          </p:cNvSpPr>
          <p:nvPr/>
        </p:nvSpPr>
        <p:spPr>
          <a:xfrm>
            <a:off x="3752850" y="3543300"/>
            <a:ext cx="400050" cy="400050"/>
          </a:xfrm>
          <a:prstGeom prst="ellipse">
            <a:avLst/>
          </a:prstGeom>
          <a:solidFill>
            <a:srgbClr val="0D9488">
              <a:alpha val="13333"/>
            </a:srgbClr>
          </a:solidFill>
          <a:ln w="1143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DC77BA-F6AA-4BD0-8731-0009AF890560}"/>
              </a:ext>
            </a:extLst>
          </p:cNvPr>
          <p:cNvSpPr>
            <a:spLocks noGrp="1"/>
          </p:cNvSpPr>
          <p:nvPr/>
        </p:nvSpPr>
        <p:spPr>
          <a:xfrm>
            <a:off x="3867150" y="3629025"/>
            <a:ext cx="171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15E59"/>
                </a:solidFill>
              </a:defRPr>
            </a:pPr>
            <a:r>
              <a:rPr sz="1350" b="1">
                <a:solidFill>
                  <a:srgbClr val="115E59"/>
                </a:solidFill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1A08ED-2B59-4FDF-9360-2C26347E8E58}"/>
              </a:ext>
            </a:extLst>
          </p:cNvPr>
          <p:cNvSpPr>
            <a:spLocks noGrp="1"/>
          </p:cNvSpPr>
          <p:nvPr/>
        </p:nvSpPr>
        <p:spPr>
          <a:xfrm>
            <a:off x="3752850" y="41338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C-Admin selects client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B0102F-A2DB-46F8-BDA0-FF3905B926D1}"/>
              </a:ext>
            </a:extLst>
          </p:cNvPr>
          <p:cNvSpPr>
            <a:spLocks noGrp="1"/>
          </p:cNvSpPr>
          <p:nvPr/>
        </p:nvSpPr>
        <p:spPr>
          <a:xfrm>
            <a:off x="3752850" y="4495800"/>
            <a:ext cx="1885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Only assigned clients appear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6D7F841-F98A-47BF-9C97-EA801E2CB230}"/>
              </a:ext>
            </a:extLst>
          </p:cNvPr>
          <p:cNvSpPr>
            <a:spLocks noGrp="1"/>
          </p:cNvSpPr>
          <p:nvPr/>
        </p:nvSpPr>
        <p:spPr>
          <a:xfrm>
            <a:off x="5924550" y="3962400"/>
            <a:ext cx="323850" cy="266700"/>
          </a:xfrm>
          <a:prstGeom prst="rightArrow">
            <a:avLst/>
          </a:prstGeom>
          <a:solidFill>
            <a:srgbClr val="0D94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2ED8073-64B3-466D-91B2-36E9E0B7E81B}"/>
              </a:ext>
            </a:extLst>
          </p:cNvPr>
          <p:cNvSpPr>
            <a:spLocks noGrp="1"/>
          </p:cNvSpPr>
          <p:nvPr/>
        </p:nvSpPr>
        <p:spPr>
          <a:xfrm>
            <a:off x="6305550" y="3276600"/>
            <a:ext cx="23622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FBC576D-32EC-4A75-BB90-70AF6516D1A1}"/>
              </a:ext>
            </a:extLst>
          </p:cNvPr>
          <p:cNvSpPr>
            <a:spLocks noGrp="1"/>
          </p:cNvSpPr>
          <p:nvPr/>
        </p:nvSpPr>
        <p:spPr>
          <a:xfrm>
            <a:off x="6534150" y="3543300"/>
            <a:ext cx="400050" cy="400050"/>
          </a:xfrm>
          <a:prstGeom prst="ellipse">
            <a:avLst/>
          </a:prstGeom>
          <a:solidFill>
            <a:srgbClr val="0D9488">
              <a:alpha val="13333"/>
            </a:srgbClr>
          </a:solidFill>
          <a:ln w="1143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12A2F4-4F82-4409-B01F-9F956463B413}"/>
              </a:ext>
            </a:extLst>
          </p:cNvPr>
          <p:cNvSpPr>
            <a:spLocks noGrp="1"/>
          </p:cNvSpPr>
          <p:nvPr/>
        </p:nvSpPr>
        <p:spPr>
          <a:xfrm>
            <a:off x="6648450" y="3629025"/>
            <a:ext cx="171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15E59"/>
                </a:solidFill>
              </a:defRPr>
            </a:pPr>
            <a:r>
              <a:rPr sz="1350" b="1">
                <a:solidFill>
                  <a:srgbClr val="115E59"/>
                </a:solidFill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34E934-CCEB-490C-BDB9-E172B9E96F79}"/>
              </a:ext>
            </a:extLst>
          </p:cNvPr>
          <p:cNvSpPr>
            <a:spLocks noGrp="1"/>
          </p:cNvSpPr>
          <p:nvPr/>
        </p:nvSpPr>
        <p:spPr>
          <a:xfrm>
            <a:off x="6534150" y="41338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Onboarding form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EB5E75-9AF5-4571-A0CD-7DD496EC3174}"/>
              </a:ext>
            </a:extLst>
          </p:cNvPr>
          <p:cNvSpPr>
            <a:spLocks noGrp="1"/>
          </p:cNvSpPr>
          <p:nvPr/>
        </p:nvSpPr>
        <p:spPr>
          <a:xfrm>
            <a:off x="6534150" y="4495800"/>
            <a:ext cx="1885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Same form as client onboarding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6FF7556A-770A-4D3A-8DCA-FC9D477BD87D}"/>
              </a:ext>
            </a:extLst>
          </p:cNvPr>
          <p:cNvSpPr>
            <a:spLocks noGrp="1"/>
          </p:cNvSpPr>
          <p:nvPr/>
        </p:nvSpPr>
        <p:spPr>
          <a:xfrm>
            <a:off x="8705850" y="3962400"/>
            <a:ext cx="323850" cy="266700"/>
          </a:xfrm>
          <a:prstGeom prst="rightArrow">
            <a:avLst/>
          </a:prstGeom>
          <a:solidFill>
            <a:srgbClr val="0D94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839BC0F-E235-4795-B955-D905FA0558FC}"/>
              </a:ext>
            </a:extLst>
          </p:cNvPr>
          <p:cNvSpPr>
            <a:spLocks noGrp="1"/>
          </p:cNvSpPr>
          <p:nvPr/>
        </p:nvSpPr>
        <p:spPr>
          <a:xfrm>
            <a:off x="9086850" y="3276600"/>
            <a:ext cx="23622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C4BD5BF-A24C-4718-BFBB-C0B64332ED15}"/>
              </a:ext>
            </a:extLst>
          </p:cNvPr>
          <p:cNvSpPr>
            <a:spLocks noGrp="1"/>
          </p:cNvSpPr>
          <p:nvPr/>
        </p:nvSpPr>
        <p:spPr>
          <a:xfrm>
            <a:off x="9315450" y="3543300"/>
            <a:ext cx="400050" cy="400050"/>
          </a:xfrm>
          <a:prstGeom prst="ellipse">
            <a:avLst/>
          </a:prstGeom>
          <a:solidFill>
            <a:srgbClr val="0D9488">
              <a:alpha val="13333"/>
            </a:srgbClr>
          </a:solidFill>
          <a:ln w="1143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C03B90-80C5-4DA0-AF3A-751695BEE550}"/>
              </a:ext>
            </a:extLst>
          </p:cNvPr>
          <p:cNvSpPr>
            <a:spLocks noGrp="1"/>
          </p:cNvSpPr>
          <p:nvPr/>
        </p:nvSpPr>
        <p:spPr>
          <a:xfrm>
            <a:off x="9429750" y="3629025"/>
            <a:ext cx="171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15E59"/>
                </a:solidFill>
              </a:defRPr>
            </a:pPr>
            <a:r>
              <a:rPr sz="1350" b="1">
                <a:solidFill>
                  <a:srgbClr val="115E59"/>
                </a:solidFill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183457-6C92-4AC0-BB49-09C7D0681208}"/>
              </a:ext>
            </a:extLst>
          </p:cNvPr>
          <p:cNvSpPr>
            <a:spLocks noGrp="1"/>
          </p:cNvSpPr>
          <p:nvPr/>
        </p:nvSpPr>
        <p:spPr>
          <a:xfrm>
            <a:off x="9315450" y="41338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Service owner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29CC07-E1B7-4812-905C-4B576E002B70}"/>
              </a:ext>
            </a:extLst>
          </p:cNvPr>
          <p:cNvSpPr>
            <a:spLocks noGrp="1"/>
          </p:cNvSpPr>
          <p:nvPr/>
        </p:nvSpPr>
        <p:spPr>
          <a:xfrm>
            <a:off x="9315450" y="4495800"/>
            <a:ext cx="1885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New service belongs to selected client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FA5B457-AF9B-4F69-B07E-9851BE9D483E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1428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C01CE66-D7C5-411B-A3F9-70910382845B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MCP Shield demo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0AD70AD-4479-48E8-8DAE-A2C45A99069C}"/>
              </a:ext>
            </a:extLst>
          </p:cNvPr>
          <p:cNvSpPr>
            <a:spLocks noGrp="1"/>
          </p:cNvSpPr>
          <p:nvPr/>
        </p:nvSpPr>
        <p:spPr>
          <a:xfrm>
            <a:off x="10591800" y="63627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05 / 09</a:t>
            </a:r>
          </a:p>
        </p:txBody>
      </p:sp>
    </p:spTree>
    <p:extLst>
      <p:ext uri="{BB962C8B-B14F-4D97-AF65-F5344CB8AC3E}">
        <p14:creationId xmlns:p14="http://schemas.microsoft.com/office/powerpoint/2010/main" val="1637283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70EBD1-9089-44B0-BD6B-5B5D79C6508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5E59"/>
                </a:solidFill>
              </a:defRPr>
            </a:pPr>
            <a:r>
              <a:rPr sz="900" b="1">
                <a:solidFill>
                  <a:srgbClr val="115E59"/>
                </a:solidFill>
              </a:rPr>
              <a:t>REPORTING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5979FD8-1537-419C-A723-F67C38F4F92A}"/>
              </a:ext>
            </a:extLst>
          </p:cNvPr>
          <p:cNvSpPr>
            <a:spLocks noGrp="1"/>
          </p:cNvSpPr>
          <p:nvPr/>
        </p:nvSpPr>
        <p:spPr>
          <a:xfrm>
            <a:off x="10972800" y="285750"/>
            <a:ext cx="247650" cy="247650"/>
          </a:xfrm>
          <a:prstGeom prst="ellipse">
            <a:avLst/>
          </a:prstGeom>
          <a:solidFill>
            <a:srgbClr val="0D9488"/>
          </a:solidFill>
          <a:ln w="9525">
            <a:solidFill>
              <a:srgbClr val="115E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13D6163-95D7-477B-B0D8-63BF468FEB16}"/>
              </a:ext>
            </a:extLst>
          </p:cNvPr>
          <p:cNvSpPr>
            <a:spLocks noGrp="1"/>
          </p:cNvSpPr>
          <p:nvPr/>
        </p:nvSpPr>
        <p:spPr>
          <a:xfrm>
            <a:off x="11315700" y="285750"/>
            <a:ext cx="247650" cy="247650"/>
          </a:xfrm>
          <a:prstGeom prst="ellipse">
            <a:avLst/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C399A1-5128-4CF1-93DB-F02CCEAB4958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Reports follow account ownership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8BAC4D-90A5-4F75-9842-726DEBA00B38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7239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Reports are owned by an account. Each role sees and generates reports only within its allowed owner set.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66BC71D-282E-48E6-8F27-4607B4CE77C9}"/>
              </a:ext>
            </a:extLst>
          </p:cNvPr>
          <p:cNvSpPr>
            <a:spLocks noGrp="1"/>
          </p:cNvSpPr>
          <p:nvPr/>
        </p:nvSpPr>
        <p:spPr>
          <a:xfrm>
            <a:off x="704850" y="3333750"/>
            <a:ext cx="3333750" cy="215265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9FE895-33E5-46D1-9121-7044B9663F9C}"/>
              </a:ext>
            </a:extLst>
          </p:cNvPr>
          <p:cNvSpPr>
            <a:spLocks noGrp="1"/>
          </p:cNvSpPr>
          <p:nvPr/>
        </p:nvSpPr>
        <p:spPr>
          <a:xfrm>
            <a:off x="704850" y="3333750"/>
            <a:ext cx="3333750" cy="7620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8BD061-047A-427F-838F-EA2E5F7A7DB0}"/>
              </a:ext>
            </a:extLst>
          </p:cNvPr>
          <p:cNvSpPr>
            <a:spLocks noGrp="1"/>
          </p:cNvSpPr>
          <p:nvPr/>
        </p:nvSpPr>
        <p:spPr>
          <a:xfrm>
            <a:off x="933450" y="3581400"/>
            <a:ext cx="2876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Admin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9CB362-1E21-4197-8A5F-76075D4E64E2}"/>
              </a:ext>
            </a:extLst>
          </p:cNvPr>
          <p:cNvSpPr>
            <a:spLocks noGrp="1"/>
          </p:cNvSpPr>
          <p:nvPr/>
        </p:nvSpPr>
        <p:spPr>
          <a:xfrm>
            <a:off x="933450" y="4133850"/>
            <a:ext cx="2876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5E59"/>
                </a:solidFill>
              </a:defRPr>
            </a:pPr>
            <a:r>
              <a:rPr sz="1275" b="1">
                <a:solidFill>
                  <a:srgbClr val="115E59"/>
                </a:solidFill>
              </a:rPr>
              <a:t>All owners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B9351D-56C0-417B-8623-966E368A720C}"/>
              </a:ext>
            </a:extLst>
          </p:cNvPr>
          <p:cNvSpPr>
            <a:spLocks noGrp="1"/>
          </p:cNvSpPr>
          <p:nvPr/>
        </p:nvSpPr>
        <p:spPr>
          <a:xfrm>
            <a:off x="933450" y="4533900"/>
            <a:ext cx="2876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Can view and generate reports for Clients and C-Admins.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3527F50-3D9A-4B0C-8486-D0F972A4BB6E}"/>
              </a:ext>
            </a:extLst>
          </p:cNvPr>
          <p:cNvSpPr>
            <a:spLocks noGrp="1"/>
          </p:cNvSpPr>
          <p:nvPr/>
        </p:nvSpPr>
        <p:spPr>
          <a:xfrm>
            <a:off x="4343400" y="3333750"/>
            <a:ext cx="3333750" cy="215265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86FA9F-617B-44E6-BF26-420561D25137}"/>
              </a:ext>
            </a:extLst>
          </p:cNvPr>
          <p:cNvSpPr>
            <a:spLocks noGrp="1"/>
          </p:cNvSpPr>
          <p:nvPr/>
        </p:nvSpPr>
        <p:spPr>
          <a:xfrm>
            <a:off x="4343400" y="3333750"/>
            <a:ext cx="333375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4C71EC-0936-43FD-AEE2-A6BE44BE998E}"/>
              </a:ext>
            </a:extLst>
          </p:cNvPr>
          <p:cNvSpPr>
            <a:spLocks noGrp="1"/>
          </p:cNvSpPr>
          <p:nvPr/>
        </p:nvSpPr>
        <p:spPr>
          <a:xfrm>
            <a:off x="4572000" y="3581400"/>
            <a:ext cx="2876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Client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6067D-B4F6-4FC7-A313-76BD12E0A222}"/>
              </a:ext>
            </a:extLst>
          </p:cNvPr>
          <p:cNvSpPr>
            <a:spLocks noGrp="1"/>
          </p:cNvSpPr>
          <p:nvPr/>
        </p:nvSpPr>
        <p:spPr>
          <a:xfrm>
            <a:off x="4572000" y="4133850"/>
            <a:ext cx="2876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5E59"/>
                </a:solidFill>
              </a:defRPr>
            </a:pPr>
            <a:r>
              <a:rPr sz="1275" b="1">
                <a:solidFill>
                  <a:srgbClr val="115E59"/>
                </a:solidFill>
              </a:rPr>
              <a:t>Self only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FCD52C-11B2-4245-A59B-FF88F21065D2}"/>
              </a:ext>
            </a:extLst>
          </p:cNvPr>
          <p:cNvSpPr>
            <a:spLocks noGrp="1"/>
          </p:cNvSpPr>
          <p:nvPr/>
        </p:nvSpPr>
        <p:spPr>
          <a:xfrm>
            <a:off x="4572000" y="4533900"/>
            <a:ext cx="2876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Can view and generate reports only under its own account.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6A380F4-241D-48F7-BAD2-B52A333CDFB9}"/>
              </a:ext>
            </a:extLst>
          </p:cNvPr>
          <p:cNvSpPr>
            <a:spLocks noGrp="1"/>
          </p:cNvSpPr>
          <p:nvPr/>
        </p:nvSpPr>
        <p:spPr>
          <a:xfrm>
            <a:off x="7981950" y="3333750"/>
            <a:ext cx="3333750" cy="215265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13D244-9122-4956-B24D-F64C785456D0}"/>
              </a:ext>
            </a:extLst>
          </p:cNvPr>
          <p:cNvSpPr>
            <a:spLocks noGrp="1"/>
          </p:cNvSpPr>
          <p:nvPr/>
        </p:nvSpPr>
        <p:spPr>
          <a:xfrm>
            <a:off x="7981950" y="3333750"/>
            <a:ext cx="3333750" cy="76200"/>
          </a:xfrm>
          <a:prstGeom prst="rect">
            <a:avLst/>
          </a:prstGeom>
          <a:solidFill>
            <a:srgbClr val="0D94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8A1D81-4970-411E-B416-3DAE8314616E}"/>
              </a:ext>
            </a:extLst>
          </p:cNvPr>
          <p:cNvSpPr>
            <a:spLocks noGrp="1"/>
          </p:cNvSpPr>
          <p:nvPr/>
        </p:nvSpPr>
        <p:spPr>
          <a:xfrm>
            <a:off x="8210550" y="3581400"/>
            <a:ext cx="2876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C-Admin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B4B6AF-A691-428E-9637-6CFD06BA1B9F}"/>
              </a:ext>
            </a:extLst>
          </p:cNvPr>
          <p:cNvSpPr>
            <a:spLocks noGrp="1"/>
          </p:cNvSpPr>
          <p:nvPr/>
        </p:nvSpPr>
        <p:spPr>
          <a:xfrm>
            <a:off x="8210550" y="4133850"/>
            <a:ext cx="2876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5E59"/>
                </a:solidFill>
              </a:defRPr>
            </a:pPr>
            <a:r>
              <a:rPr sz="1275" b="1">
                <a:solidFill>
                  <a:srgbClr val="115E59"/>
                </a:solidFill>
              </a:rPr>
              <a:t>Own + assigned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2F849C-3FC8-432A-B0E8-EB0BB7ADCB8F}"/>
              </a:ext>
            </a:extLst>
          </p:cNvPr>
          <p:cNvSpPr>
            <a:spLocks noGrp="1"/>
          </p:cNvSpPr>
          <p:nvPr/>
        </p:nvSpPr>
        <p:spPr>
          <a:xfrm>
            <a:off x="8210550" y="4533900"/>
            <a:ext cx="2876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Can generate reports for Liam Patel and assigned clients only.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E018A1-4F3D-4F9A-BEC3-65CA42F14048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1428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85F942-579A-46A1-94D8-FA865436BF1C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MCP Shield demo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634247-8B8B-496F-A074-24401DD42F3C}"/>
              </a:ext>
            </a:extLst>
          </p:cNvPr>
          <p:cNvSpPr>
            <a:spLocks noGrp="1"/>
          </p:cNvSpPr>
          <p:nvPr/>
        </p:nvSpPr>
        <p:spPr>
          <a:xfrm>
            <a:off x="10591800" y="63627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06 / 09</a:t>
            </a:r>
          </a:p>
        </p:txBody>
      </p:sp>
    </p:spTree>
    <p:extLst>
      <p:ext uri="{BB962C8B-B14F-4D97-AF65-F5344CB8AC3E}">
        <p14:creationId xmlns:p14="http://schemas.microsoft.com/office/powerpoint/2010/main" val="1277375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1B05EA-D094-4DF6-9634-90E8FFCD9EB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5E59"/>
                </a:solidFill>
              </a:defRPr>
            </a:pPr>
            <a:r>
              <a:rPr sz="900" b="1">
                <a:solidFill>
                  <a:srgbClr val="115E59"/>
                </a:solidFill>
              </a:rPr>
              <a:t>LIVE DEMO FLOW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40B6FDE-F66B-42F0-BCA3-26618199C11F}"/>
              </a:ext>
            </a:extLst>
          </p:cNvPr>
          <p:cNvSpPr>
            <a:spLocks noGrp="1"/>
          </p:cNvSpPr>
          <p:nvPr/>
        </p:nvSpPr>
        <p:spPr>
          <a:xfrm>
            <a:off x="10972800" y="285750"/>
            <a:ext cx="247650" cy="247650"/>
          </a:xfrm>
          <a:prstGeom prst="ellipse">
            <a:avLst/>
          </a:prstGeom>
          <a:solidFill>
            <a:srgbClr val="0D9488"/>
          </a:solidFill>
          <a:ln w="9525">
            <a:solidFill>
              <a:srgbClr val="115E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3B82230-093A-4B8D-8BD9-0C99228EA535}"/>
              </a:ext>
            </a:extLst>
          </p:cNvPr>
          <p:cNvSpPr>
            <a:spLocks noGrp="1"/>
          </p:cNvSpPr>
          <p:nvPr/>
        </p:nvSpPr>
        <p:spPr>
          <a:xfrm>
            <a:off x="11315700" y="285750"/>
            <a:ext cx="247650" cy="247650"/>
          </a:xfrm>
          <a:prstGeom prst="ellipse">
            <a:avLst/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BA523B-2CD0-4623-AB0D-17FE1A254240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Recommended demo path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6083A9-CE66-430C-B23D-334B3B24D472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7239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Move from global control to delegated control to client self-service so the differences are obvious.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FD5D768-9033-4F81-AE12-4A50F23F7D16}"/>
              </a:ext>
            </a:extLst>
          </p:cNvPr>
          <p:cNvSpPr>
            <a:spLocks noGrp="1"/>
          </p:cNvSpPr>
          <p:nvPr/>
        </p:nvSpPr>
        <p:spPr>
          <a:xfrm>
            <a:off x="8191500" y="990600"/>
            <a:ext cx="895350" cy="342900"/>
          </a:xfrm>
          <a:prstGeom prst="roundRect">
            <a:avLst>
              <a:gd name="adj" fmla="val 22222"/>
            </a:avLst>
          </a:prstGeom>
          <a:solidFill>
            <a:srgbClr val="4F46E5">
              <a:alpha val="9412"/>
            </a:srgbClr>
          </a:solidFill>
          <a:ln w="9525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AE5F8B-D301-48DC-B3EE-B65998988329}"/>
              </a:ext>
            </a:extLst>
          </p:cNvPr>
          <p:cNvSpPr>
            <a:spLocks noGrp="1"/>
          </p:cNvSpPr>
          <p:nvPr/>
        </p:nvSpPr>
        <p:spPr>
          <a:xfrm>
            <a:off x="8286750" y="1066800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4F46E5"/>
                </a:solidFill>
              </a:defRPr>
            </a:pPr>
            <a:r>
              <a:rPr sz="900" b="1">
                <a:solidFill>
                  <a:srgbClr val="4F46E5"/>
                </a:solidFill>
              </a:rPr>
              <a:t>Admin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E397916-157E-4F19-BDBD-1F0095BBED82}"/>
              </a:ext>
            </a:extLst>
          </p:cNvPr>
          <p:cNvSpPr>
            <a:spLocks noGrp="1"/>
          </p:cNvSpPr>
          <p:nvPr/>
        </p:nvSpPr>
        <p:spPr>
          <a:xfrm>
            <a:off x="9334500" y="990600"/>
            <a:ext cx="895350" cy="342900"/>
          </a:xfrm>
          <a:prstGeom prst="roundRect">
            <a:avLst>
              <a:gd name="adj" fmla="val 22222"/>
            </a:avLst>
          </a:prstGeom>
          <a:solidFill>
            <a:srgbClr val="2563EB">
              <a:alpha val="9412"/>
            </a:srgbClr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82EEEF-3436-48F3-8A05-4E776A8AE9E6}"/>
              </a:ext>
            </a:extLst>
          </p:cNvPr>
          <p:cNvSpPr>
            <a:spLocks noGrp="1"/>
          </p:cNvSpPr>
          <p:nvPr/>
        </p:nvSpPr>
        <p:spPr>
          <a:xfrm>
            <a:off x="9429750" y="1066800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Client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BF3FA08-4C07-4BC3-BF3F-FCFE87DB204B}"/>
              </a:ext>
            </a:extLst>
          </p:cNvPr>
          <p:cNvSpPr>
            <a:spLocks noGrp="1"/>
          </p:cNvSpPr>
          <p:nvPr/>
        </p:nvSpPr>
        <p:spPr>
          <a:xfrm>
            <a:off x="10477500" y="990600"/>
            <a:ext cx="895350" cy="342900"/>
          </a:xfrm>
          <a:prstGeom prst="roundRect">
            <a:avLst>
              <a:gd name="adj" fmla="val 22222"/>
            </a:avLst>
          </a:prstGeom>
          <a:solidFill>
            <a:srgbClr val="0D9488">
              <a:alpha val="9412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7024EC-4CD6-4FAB-858A-D2726D42DD31}"/>
              </a:ext>
            </a:extLst>
          </p:cNvPr>
          <p:cNvSpPr>
            <a:spLocks noGrp="1"/>
          </p:cNvSpPr>
          <p:nvPr/>
        </p:nvSpPr>
        <p:spPr>
          <a:xfrm>
            <a:off x="10572750" y="1066800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D9488"/>
                </a:solidFill>
              </a:defRPr>
            </a:pPr>
            <a:r>
              <a:rPr sz="900" b="1">
                <a:solidFill>
                  <a:srgbClr val="0D9488"/>
                </a:solidFill>
              </a:rPr>
              <a:t>C-Admin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880E5A5-D6BD-4DE7-ABF8-23388C61D478}"/>
              </a:ext>
            </a:extLst>
          </p:cNvPr>
          <p:cNvSpPr>
            <a:spLocks noGrp="1"/>
          </p:cNvSpPr>
          <p:nvPr/>
        </p:nvSpPr>
        <p:spPr>
          <a:xfrm>
            <a:off x="704850" y="3486150"/>
            <a:ext cx="33337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9A0C24-FA1C-44E8-B60C-AB0C8C34E1A3}"/>
              </a:ext>
            </a:extLst>
          </p:cNvPr>
          <p:cNvSpPr>
            <a:spLocks noGrp="1"/>
          </p:cNvSpPr>
          <p:nvPr/>
        </p:nvSpPr>
        <p:spPr>
          <a:xfrm>
            <a:off x="704850" y="3486150"/>
            <a:ext cx="76200" cy="2000250"/>
          </a:xfrm>
          <a:prstGeom prst="rect">
            <a:avLst/>
          </a:prstGeom>
          <a:solidFill>
            <a:srgbClr val="0D94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FCC1FA8-4990-4A06-A6F6-08A6C0500934}"/>
              </a:ext>
            </a:extLst>
          </p:cNvPr>
          <p:cNvSpPr>
            <a:spLocks noGrp="1"/>
          </p:cNvSpPr>
          <p:nvPr/>
        </p:nvSpPr>
        <p:spPr>
          <a:xfrm>
            <a:off x="933450" y="3714750"/>
            <a:ext cx="457200" cy="457200"/>
          </a:xfrm>
          <a:prstGeom prst="ellipse">
            <a:avLst/>
          </a:prstGeom>
          <a:solidFill>
            <a:srgbClr val="0D9488">
              <a:alpha val="13333"/>
            </a:srgbClr>
          </a:solidFill>
          <a:ln w="1143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006982-9DAD-4C13-9D39-472E9DD9D165}"/>
              </a:ext>
            </a:extLst>
          </p:cNvPr>
          <p:cNvSpPr>
            <a:spLocks noGrp="1"/>
          </p:cNvSpPr>
          <p:nvPr/>
        </p:nvSpPr>
        <p:spPr>
          <a:xfrm>
            <a:off x="1085850" y="3933825"/>
            <a:ext cx="190500" cy="38100"/>
          </a:xfrm>
          <a:prstGeom prst="rect">
            <a:avLst/>
          </a:prstGeom>
          <a:solidFill>
            <a:srgbClr val="0D94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3F3BE1-96F5-478C-8161-E8DFDDCBE57D}"/>
              </a:ext>
            </a:extLst>
          </p:cNvPr>
          <p:cNvSpPr>
            <a:spLocks noGrp="1"/>
          </p:cNvSpPr>
          <p:nvPr/>
        </p:nvSpPr>
        <p:spPr>
          <a:xfrm>
            <a:off x="1162050" y="3857625"/>
            <a:ext cx="38100" cy="190500"/>
          </a:xfrm>
          <a:prstGeom prst="rect">
            <a:avLst/>
          </a:prstGeom>
          <a:solidFill>
            <a:srgbClr val="0D94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DC7E96-366D-4A7F-BB9D-82C193E09E25}"/>
              </a:ext>
            </a:extLst>
          </p:cNvPr>
          <p:cNvSpPr>
            <a:spLocks noGrp="1"/>
          </p:cNvSpPr>
          <p:nvPr/>
        </p:nvSpPr>
        <p:spPr>
          <a:xfrm>
            <a:off x="1581150" y="37147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5E59"/>
                </a:solidFill>
              </a:defRPr>
            </a:pPr>
            <a:r>
              <a:rPr sz="1200" b="1">
                <a:solidFill>
                  <a:srgbClr val="115E59"/>
                </a:solidFill>
              </a:rPr>
              <a:t>1. Admin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3B9A06-9BD9-4501-949F-55F37420A57C}"/>
              </a:ext>
            </a:extLst>
          </p:cNvPr>
          <p:cNvSpPr>
            <a:spLocks noGrp="1"/>
          </p:cNvSpPr>
          <p:nvPr/>
        </p:nvSpPr>
        <p:spPr>
          <a:xfrm>
            <a:off x="971550" y="4362450"/>
            <a:ext cx="28003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Login as Admin. Show Users, edit Liam Patel, assigned clients/services, and all-account reporting.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30EF3F9-C6C3-4040-B4A1-4B36934183AC}"/>
              </a:ext>
            </a:extLst>
          </p:cNvPr>
          <p:cNvSpPr>
            <a:spLocks noGrp="1"/>
          </p:cNvSpPr>
          <p:nvPr/>
        </p:nvSpPr>
        <p:spPr>
          <a:xfrm>
            <a:off x="4343400" y="3486150"/>
            <a:ext cx="33337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50561F-322A-4738-BD0B-7BAB2958D685}"/>
              </a:ext>
            </a:extLst>
          </p:cNvPr>
          <p:cNvSpPr>
            <a:spLocks noGrp="1"/>
          </p:cNvSpPr>
          <p:nvPr/>
        </p:nvSpPr>
        <p:spPr>
          <a:xfrm>
            <a:off x="4343400" y="3486150"/>
            <a:ext cx="76200" cy="20002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5B61ACE-C6E6-4FBE-A89D-FF991752D2BF}"/>
              </a:ext>
            </a:extLst>
          </p:cNvPr>
          <p:cNvSpPr>
            <a:spLocks noGrp="1"/>
          </p:cNvSpPr>
          <p:nvPr/>
        </p:nvSpPr>
        <p:spPr>
          <a:xfrm>
            <a:off x="4572000" y="3714750"/>
            <a:ext cx="457200" cy="457200"/>
          </a:xfrm>
          <a:prstGeom prst="ellipse">
            <a:avLst/>
          </a:prstGeom>
          <a:solidFill>
            <a:srgbClr val="4F46E5">
              <a:alpha val="13333"/>
            </a:srgbClr>
          </a:solidFill>
          <a:ln w="1143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BEA586-65C5-49CF-8844-DD1465B57D0E}"/>
              </a:ext>
            </a:extLst>
          </p:cNvPr>
          <p:cNvSpPr>
            <a:spLocks noGrp="1"/>
          </p:cNvSpPr>
          <p:nvPr/>
        </p:nvSpPr>
        <p:spPr>
          <a:xfrm>
            <a:off x="4724400" y="3933825"/>
            <a:ext cx="190500" cy="3810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F0E04C-176B-4486-8145-DDD14A0686F7}"/>
              </a:ext>
            </a:extLst>
          </p:cNvPr>
          <p:cNvSpPr>
            <a:spLocks noGrp="1"/>
          </p:cNvSpPr>
          <p:nvPr/>
        </p:nvSpPr>
        <p:spPr>
          <a:xfrm>
            <a:off x="4800600" y="3857625"/>
            <a:ext cx="38100" cy="19050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41DE824-DE9A-49B6-9359-D114B33F98C6}"/>
              </a:ext>
            </a:extLst>
          </p:cNvPr>
          <p:cNvSpPr>
            <a:spLocks noGrp="1"/>
          </p:cNvSpPr>
          <p:nvPr/>
        </p:nvSpPr>
        <p:spPr>
          <a:xfrm>
            <a:off x="5219700" y="37147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5E59"/>
                </a:solidFill>
              </a:defRPr>
            </a:pPr>
            <a:r>
              <a:rPr sz="1200" b="1">
                <a:solidFill>
                  <a:srgbClr val="115E59"/>
                </a:solidFill>
              </a:rPr>
              <a:t>2. C-Admin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DCFF18-5C48-4158-8968-A326174EEAD3}"/>
              </a:ext>
            </a:extLst>
          </p:cNvPr>
          <p:cNvSpPr>
            <a:spLocks noGrp="1"/>
          </p:cNvSpPr>
          <p:nvPr/>
        </p:nvSpPr>
        <p:spPr>
          <a:xfrm>
            <a:off x="4610100" y="4362450"/>
            <a:ext cx="28003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Login as C-Admin. Show scoped dashboard, assigned services, service onboarding, and scoped reporting.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8D6D7AE-E023-4656-A2B9-C3561C4D949B}"/>
              </a:ext>
            </a:extLst>
          </p:cNvPr>
          <p:cNvSpPr>
            <a:spLocks noGrp="1"/>
          </p:cNvSpPr>
          <p:nvPr/>
        </p:nvSpPr>
        <p:spPr>
          <a:xfrm>
            <a:off x="7981950" y="3486150"/>
            <a:ext cx="33337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8F63EE-A9FC-4A8F-99F6-BC77D0F26E13}"/>
              </a:ext>
            </a:extLst>
          </p:cNvPr>
          <p:cNvSpPr>
            <a:spLocks noGrp="1"/>
          </p:cNvSpPr>
          <p:nvPr/>
        </p:nvSpPr>
        <p:spPr>
          <a:xfrm>
            <a:off x="7981950" y="3486150"/>
            <a:ext cx="76200" cy="20002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4B39CB9-588C-4D8F-A076-64DA8BF8413D}"/>
              </a:ext>
            </a:extLst>
          </p:cNvPr>
          <p:cNvSpPr>
            <a:spLocks noGrp="1"/>
          </p:cNvSpPr>
          <p:nvPr/>
        </p:nvSpPr>
        <p:spPr>
          <a:xfrm>
            <a:off x="8210550" y="3714750"/>
            <a:ext cx="457200" cy="457200"/>
          </a:xfrm>
          <a:prstGeom prst="ellipse">
            <a:avLst/>
          </a:prstGeom>
          <a:solidFill>
            <a:srgbClr val="F59E0B">
              <a:alpha val="13333"/>
            </a:srgbClr>
          </a:solidFill>
          <a:ln w="1143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7F758A-F9F3-4B88-B5EA-755346478F33}"/>
              </a:ext>
            </a:extLst>
          </p:cNvPr>
          <p:cNvSpPr>
            <a:spLocks noGrp="1"/>
          </p:cNvSpPr>
          <p:nvPr/>
        </p:nvSpPr>
        <p:spPr>
          <a:xfrm>
            <a:off x="8362950" y="3933825"/>
            <a:ext cx="190500" cy="381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673DCF9-6C90-4D75-9593-9DCD8EE53FD8}"/>
              </a:ext>
            </a:extLst>
          </p:cNvPr>
          <p:cNvSpPr>
            <a:spLocks noGrp="1"/>
          </p:cNvSpPr>
          <p:nvPr/>
        </p:nvSpPr>
        <p:spPr>
          <a:xfrm>
            <a:off x="8439150" y="3857625"/>
            <a:ext cx="38100" cy="1905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4DA3B63-F79D-4E7E-ABEC-7115EFCD9A99}"/>
              </a:ext>
            </a:extLst>
          </p:cNvPr>
          <p:cNvSpPr>
            <a:spLocks noGrp="1"/>
          </p:cNvSpPr>
          <p:nvPr/>
        </p:nvSpPr>
        <p:spPr>
          <a:xfrm>
            <a:off x="8858250" y="37147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5E59"/>
                </a:solidFill>
              </a:defRPr>
            </a:pPr>
            <a:r>
              <a:rPr sz="1200" b="1">
                <a:solidFill>
                  <a:srgbClr val="115E59"/>
                </a:solidFill>
              </a:rPr>
              <a:t>3. Client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6DC226-5494-4C4F-96F6-AB12523F70E4}"/>
              </a:ext>
            </a:extLst>
          </p:cNvPr>
          <p:cNvSpPr>
            <a:spLocks noGrp="1"/>
          </p:cNvSpPr>
          <p:nvPr/>
        </p:nvSpPr>
        <p:spPr>
          <a:xfrm>
            <a:off x="8248650" y="4362450"/>
            <a:ext cx="28003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Login as Client. Show own-service onboarding and own-account reports only.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9287BB9-108F-47C4-9CA7-AF97036ABC4A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1428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5FF80E-7BB0-44F3-B63F-AEE47D618FC2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MCP Shield demo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2DDAF13-4A4C-4037-8346-2390912B620D}"/>
              </a:ext>
            </a:extLst>
          </p:cNvPr>
          <p:cNvSpPr>
            <a:spLocks noGrp="1"/>
          </p:cNvSpPr>
          <p:nvPr/>
        </p:nvSpPr>
        <p:spPr>
          <a:xfrm>
            <a:off x="10591800" y="63627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07 / 09</a:t>
            </a:r>
          </a:p>
        </p:txBody>
      </p:sp>
    </p:spTree>
    <p:extLst>
      <p:ext uri="{BB962C8B-B14F-4D97-AF65-F5344CB8AC3E}">
        <p14:creationId xmlns:p14="http://schemas.microsoft.com/office/powerpoint/2010/main" val="828937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C33795-868E-42D3-904E-8C03BF8F436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5E59"/>
                </a:solidFill>
              </a:defRPr>
            </a:pPr>
            <a:r>
              <a:rPr sz="900" b="1">
                <a:solidFill>
                  <a:srgbClr val="115E59"/>
                </a:solidFill>
              </a:rPr>
              <a:t>QA CHECKLIST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25DF728-16D4-4F95-94D8-56FE492A7B24}"/>
              </a:ext>
            </a:extLst>
          </p:cNvPr>
          <p:cNvSpPr>
            <a:spLocks noGrp="1"/>
          </p:cNvSpPr>
          <p:nvPr/>
        </p:nvSpPr>
        <p:spPr>
          <a:xfrm>
            <a:off x="10972800" y="285750"/>
            <a:ext cx="247650" cy="247650"/>
          </a:xfrm>
          <a:prstGeom prst="ellipse">
            <a:avLst/>
          </a:prstGeom>
          <a:solidFill>
            <a:srgbClr val="0D9488"/>
          </a:solidFill>
          <a:ln w="9525">
            <a:solidFill>
              <a:srgbClr val="115E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6E6ED55-BBE5-47CB-BE42-6779A3C6E647}"/>
              </a:ext>
            </a:extLst>
          </p:cNvPr>
          <p:cNvSpPr>
            <a:spLocks noGrp="1"/>
          </p:cNvSpPr>
          <p:nvPr/>
        </p:nvSpPr>
        <p:spPr>
          <a:xfrm>
            <a:off x="11315700" y="285750"/>
            <a:ext cx="247650" cy="247650"/>
          </a:xfrm>
          <a:prstGeom prst="ellipse">
            <a:avLst/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B60880-DAE1-440E-A634-3D65943E8A61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What to validate during the demo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2F2DCA-E4A2-427C-947E-A424A4A38C0A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7239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strongest proof is not that a page opens; it is that unassigned data never appears.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53B5A59-3D1B-444C-881F-080ABCC724D9}"/>
              </a:ext>
            </a:extLst>
          </p:cNvPr>
          <p:cNvSpPr>
            <a:spLocks noGrp="1"/>
          </p:cNvSpPr>
          <p:nvPr/>
        </p:nvSpPr>
        <p:spPr>
          <a:xfrm>
            <a:off x="8191500" y="990600"/>
            <a:ext cx="895350" cy="342900"/>
          </a:xfrm>
          <a:prstGeom prst="roundRect">
            <a:avLst>
              <a:gd name="adj" fmla="val 22222"/>
            </a:avLst>
          </a:prstGeom>
          <a:solidFill>
            <a:srgbClr val="4F46E5">
              <a:alpha val="9412"/>
            </a:srgbClr>
          </a:solidFill>
          <a:ln w="9525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71AD35-2BCB-499F-9930-AE6BD029E15D}"/>
              </a:ext>
            </a:extLst>
          </p:cNvPr>
          <p:cNvSpPr>
            <a:spLocks noGrp="1"/>
          </p:cNvSpPr>
          <p:nvPr/>
        </p:nvSpPr>
        <p:spPr>
          <a:xfrm>
            <a:off x="8286750" y="1066800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4F46E5"/>
                </a:solidFill>
              </a:defRPr>
            </a:pPr>
            <a:r>
              <a:rPr sz="900" b="1">
                <a:solidFill>
                  <a:srgbClr val="4F46E5"/>
                </a:solidFill>
              </a:rPr>
              <a:t>Admin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CBAE1F6-A83A-4A05-9BC8-2DB118245A89}"/>
              </a:ext>
            </a:extLst>
          </p:cNvPr>
          <p:cNvSpPr>
            <a:spLocks noGrp="1"/>
          </p:cNvSpPr>
          <p:nvPr/>
        </p:nvSpPr>
        <p:spPr>
          <a:xfrm>
            <a:off x="9334500" y="990600"/>
            <a:ext cx="895350" cy="342900"/>
          </a:xfrm>
          <a:prstGeom prst="roundRect">
            <a:avLst>
              <a:gd name="adj" fmla="val 22222"/>
            </a:avLst>
          </a:prstGeom>
          <a:solidFill>
            <a:srgbClr val="2563EB">
              <a:alpha val="9412"/>
            </a:srgbClr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7DC41F-5382-4F57-908E-34D24F3B52B9}"/>
              </a:ext>
            </a:extLst>
          </p:cNvPr>
          <p:cNvSpPr>
            <a:spLocks noGrp="1"/>
          </p:cNvSpPr>
          <p:nvPr/>
        </p:nvSpPr>
        <p:spPr>
          <a:xfrm>
            <a:off x="9429750" y="1066800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Client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6740ABB-BFF7-4689-BA3E-4009B054485B}"/>
              </a:ext>
            </a:extLst>
          </p:cNvPr>
          <p:cNvSpPr>
            <a:spLocks noGrp="1"/>
          </p:cNvSpPr>
          <p:nvPr/>
        </p:nvSpPr>
        <p:spPr>
          <a:xfrm>
            <a:off x="10477500" y="990600"/>
            <a:ext cx="895350" cy="342900"/>
          </a:xfrm>
          <a:prstGeom prst="roundRect">
            <a:avLst>
              <a:gd name="adj" fmla="val 22222"/>
            </a:avLst>
          </a:prstGeom>
          <a:solidFill>
            <a:srgbClr val="0D9488">
              <a:alpha val="9412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96AF86-CD9D-469C-8C53-53AAA5178B60}"/>
              </a:ext>
            </a:extLst>
          </p:cNvPr>
          <p:cNvSpPr>
            <a:spLocks noGrp="1"/>
          </p:cNvSpPr>
          <p:nvPr/>
        </p:nvSpPr>
        <p:spPr>
          <a:xfrm>
            <a:off x="10572750" y="1066800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D9488"/>
                </a:solidFill>
              </a:defRPr>
            </a:pPr>
            <a:r>
              <a:rPr sz="900" b="1">
                <a:solidFill>
                  <a:srgbClr val="0D9488"/>
                </a:solidFill>
              </a:rPr>
              <a:t>C-Admin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524D65A-6F2A-40FC-A521-99426E292816}"/>
              </a:ext>
            </a:extLst>
          </p:cNvPr>
          <p:cNvSpPr>
            <a:spLocks noGrp="1"/>
          </p:cNvSpPr>
          <p:nvPr/>
        </p:nvSpPr>
        <p:spPr>
          <a:xfrm>
            <a:off x="704850" y="3486150"/>
            <a:ext cx="33337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C56622-EE63-4646-BBE4-7196E1465090}"/>
              </a:ext>
            </a:extLst>
          </p:cNvPr>
          <p:cNvSpPr>
            <a:spLocks noGrp="1"/>
          </p:cNvSpPr>
          <p:nvPr/>
        </p:nvSpPr>
        <p:spPr>
          <a:xfrm>
            <a:off x="704850" y="3486150"/>
            <a:ext cx="76200" cy="2000250"/>
          </a:xfrm>
          <a:prstGeom prst="rect">
            <a:avLst/>
          </a:prstGeom>
          <a:solidFill>
            <a:srgbClr val="0D94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F767C1F-CEB9-450E-9064-7B3E1B6759E4}"/>
              </a:ext>
            </a:extLst>
          </p:cNvPr>
          <p:cNvSpPr>
            <a:spLocks noGrp="1"/>
          </p:cNvSpPr>
          <p:nvPr/>
        </p:nvSpPr>
        <p:spPr>
          <a:xfrm>
            <a:off x="933450" y="3714750"/>
            <a:ext cx="457200" cy="457200"/>
          </a:xfrm>
          <a:prstGeom prst="ellipse">
            <a:avLst/>
          </a:prstGeom>
          <a:solidFill>
            <a:srgbClr val="0D9488">
              <a:alpha val="13333"/>
            </a:srgbClr>
          </a:solidFill>
          <a:ln w="1143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BF126E-CF9D-4285-9AC1-E5757EB41947}"/>
              </a:ext>
            </a:extLst>
          </p:cNvPr>
          <p:cNvSpPr>
            <a:spLocks noGrp="1"/>
          </p:cNvSpPr>
          <p:nvPr/>
        </p:nvSpPr>
        <p:spPr>
          <a:xfrm>
            <a:off x="1085850" y="3933825"/>
            <a:ext cx="190500" cy="38100"/>
          </a:xfrm>
          <a:prstGeom prst="rect">
            <a:avLst/>
          </a:prstGeom>
          <a:solidFill>
            <a:srgbClr val="0D94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FB1CB0-9E08-49B8-AA17-942A762BF817}"/>
              </a:ext>
            </a:extLst>
          </p:cNvPr>
          <p:cNvSpPr>
            <a:spLocks noGrp="1"/>
          </p:cNvSpPr>
          <p:nvPr/>
        </p:nvSpPr>
        <p:spPr>
          <a:xfrm>
            <a:off x="1162050" y="3857625"/>
            <a:ext cx="38100" cy="190500"/>
          </a:xfrm>
          <a:prstGeom prst="rect">
            <a:avLst/>
          </a:prstGeom>
          <a:solidFill>
            <a:srgbClr val="0D94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11BA5B-0465-4843-B974-0928708225BF}"/>
              </a:ext>
            </a:extLst>
          </p:cNvPr>
          <p:cNvSpPr>
            <a:spLocks noGrp="1"/>
          </p:cNvSpPr>
          <p:nvPr/>
        </p:nvSpPr>
        <p:spPr>
          <a:xfrm>
            <a:off x="1581150" y="37147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5E59"/>
                </a:solidFill>
              </a:defRPr>
            </a:pPr>
            <a:r>
              <a:rPr sz="1200" b="1">
                <a:solidFill>
                  <a:srgbClr val="115E59"/>
                </a:solidFill>
              </a:rPr>
              <a:t>Admin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80AC95-7DD3-4CDB-A810-0F2266D6D724}"/>
              </a:ext>
            </a:extLst>
          </p:cNvPr>
          <p:cNvSpPr>
            <a:spLocks noGrp="1"/>
          </p:cNvSpPr>
          <p:nvPr/>
        </p:nvSpPr>
        <p:spPr>
          <a:xfrm>
            <a:off x="971550" y="4362450"/>
            <a:ext cx="28003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Can assign C-Admin client/service access and generate reports for Clients or C-Admins.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0E5175E-F813-4D21-B32F-7F51E2053A29}"/>
              </a:ext>
            </a:extLst>
          </p:cNvPr>
          <p:cNvSpPr>
            <a:spLocks noGrp="1"/>
          </p:cNvSpPr>
          <p:nvPr/>
        </p:nvSpPr>
        <p:spPr>
          <a:xfrm>
            <a:off x="4343400" y="3486150"/>
            <a:ext cx="33337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7682F2-704E-4355-A53C-CFAA5297E76F}"/>
              </a:ext>
            </a:extLst>
          </p:cNvPr>
          <p:cNvSpPr>
            <a:spLocks noGrp="1"/>
          </p:cNvSpPr>
          <p:nvPr/>
        </p:nvSpPr>
        <p:spPr>
          <a:xfrm>
            <a:off x="4343400" y="3486150"/>
            <a:ext cx="76200" cy="20002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3CA4744-E144-43C1-8D58-47ADDF6F3F15}"/>
              </a:ext>
            </a:extLst>
          </p:cNvPr>
          <p:cNvSpPr>
            <a:spLocks noGrp="1"/>
          </p:cNvSpPr>
          <p:nvPr/>
        </p:nvSpPr>
        <p:spPr>
          <a:xfrm>
            <a:off x="4572000" y="3714750"/>
            <a:ext cx="457200" cy="457200"/>
          </a:xfrm>
          <a:prstGeom prst="ellipse">
            <a:avLst/>
          </a:prstGeom>
          <a:solidFill>
            <a:srgbClr val="4F46E5">
              <a:alpha val="13333"/>
            </a:srgbClr>
          </a:solidFill>
          <a:ln w="1143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E80DB2-251B-46C4-8C4D-403A3EF8EF29}"/>
              </a:ext>
            </a:extLst>
          </p:cNvPr>
          <p:cNvSpPr>
            <a:spLocks noGrp="1"/>
          </p:cNvSpPr>
          <p:nvPr/>
        </p:nvSpPr>
        <p:spPr>
          <a:xfrm>
            <a:off x="4724400" y="3933825"/>
            <a:ext cx="190500" cy="3810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42C2722-F94B-42D3-90B7-08D3DE991996}"/>
              </a:ext>
            </a:extLst>
          </p:cNvPr>
          <p:cNvSpPr>
            <a:spLocks noGrp="1"/>
          </p:cNvSpPr>
          <p:nvPr/>
        </p:nvSpPr>
        <p:spPr>
          <a:xfrm>
            <a:off x="4800600" y="3857625"/>
            <a:ext cx="38100" cy="19050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76C81D-9DDC-4571-93D8-6CECD5C7C33E}"/>
              </a:ext>
            </a:extLst>
          </p:cNvPr>
          <p:cNvSpPr>
            <a:spLocks noGrp="1"/>
          </p:cNvSpPr>
          <p:nvPr/>
        </p:nvSpPr>
        <p:spPr>
          <a:xfrm>
            <a:off x="5219700" y="37147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5E59"/>
                </a:solidFill>
              </a:defRPr>
            </a:pPr>
            <a:r>
              <a:rPr sz="1200" b="1">
                <a:solidFill>
                  <a:srgbClr val="115E59"/>
                </a:solidFill>
              </a:rPr>
              <a:t>C-Admin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986FC7-41C1-44BC-99C3-4B7D0CC15840}"/>
              </a:ext>
            </a:extLst>
          </p:cNvPr>
          <p:cNvSpPr>
            <a:spLocks noGrp="1"/>
          </p:cNvSpPr>
          <p:nvPr/>
        </p:nvSpPr>
        <p:spPr>
          <a:xfrm>
            <a:off x="4610100" y="4362450"/>
            <a:ext cx="28003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Can onboard services and generate reports only for its own account and assigned clients.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1E0402D-700D-4E1C-9105-562A3C1AE484}"/>
              </a:ext>
            </a:extLst>
          </p:cNvPr>
          <p:cNvSpPr>
            <a:spLocks noGrp="1"/>
          </p:cNvSpPr>
          <p:nvPr/>
        </p:nvSpPr>
        <p:spPr>
          <a:xfrm>
            <a:off x="7981950" y="3486150"/>
            <a:ext cx="33337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CA045E3-6884-4BD8-BCDC-E94BF84FB287}"/>
              </a:ext>
            </a:extLst>
          </p:cNvPr>
          <p:cNvSpPr>
            <a:spLocks noGrp="1"/>
          </p:cNvSpPr>
          <p:nvPr/>
        </p:nvSpPr>
        <p:spPr>
          <a:xfrm>
            <a:off x="7981950" y="3486150"/>
            <a:ext cx="76200" cy="20002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96232CF-5425-4609-93C1-0D430B60FDD5}"/>
              </a:ext>
            </a:extLst>
          </p:cNvPr>
          <p:cNvSpPr>
            <a:spLocks noGrp="1"/>
          </p:cNvSpPr>
          <p:nvPr/>
        </p:nvSpPr>
        <p:spPr>
          <a:xfrm>
            <a:off x="8210550" y="3714750"/>
            <a:ext cx="457200" cy="457200"/>
          </a:xfrm>
          <a:prstGeom prst="ellipse">
            <a:avLst/>
          </a:prstGeom>
          <a:solidFill>
            <a:srgbClr val="F59E0B">
              <a:alpha val="13333"/>
            </a:srgbClr>
          </a:solidFill>
          <a:ln w="1143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70AC1E-E961-4319-8AC1-B71A2A63F543}"/>
              </a:ext>
            </a:extLst>
          </p:cNvPr>
          <p:cNvSpPr>
            <a:spLocks noGrp="1"/>
          </p:cNvSpPr>
          <p:nvPr/>
        </p:nvSpPr>
        <p:spPr>
          <a:xfrm>
            <a:off x="8362950" y="3933825"/>
            <a:ext cx="190500" cy="381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FAEBE6-86CD-483A-8F13-614C64088ADE}"/>
              </a:ext>
            </a:extLst>
          </p:cNvPr>
          <p:cNvSpPr>
            <a:spLocks noGrp="1"/>
          </p:cNvSpPr>
          <p:nvPr/>
        </p:nvSpPr>
        <p:spPr>
          <a:xfrm>
            <a:off x="8439150" y="3857625"/>
            <a:ext cx="38100" cy="1905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C9045B4-07B0-4AF6-A9A4-7D425FD814C9}"/>
              </a:ext>
            </a:extLst>
          </p:cNvPr>
          <p:cNvSpPr>
            <a:spLocks noGrp="1"/>
          </p:cNvSpPr>
          <p:nvPr/>
        </p:nvSpPr>
        <p:spPr>
          <a:xfrm>
            <a:off x="8858250" y="37147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5E59"/>
                </a:solidFill>
              </a:defRPr>
            </a:pPr>
            <a:r>
              <a:rPr sz="1200" b="1">
                <a:solidFill>
                  <a:srgbClr val="115E59"/>
                </a:solidFill>
              </a:rPr>
              <a:t>Client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F6B2C02-C8CB-4C85-892D-41FE95FC2EE3}"/>
              </a:ext>
            </a:extLst>
          </p:cNvPr>
          <p:cNvSpPr>
            <a:spLocks noGrp="1"/>
          </p:cNvSpPr>
          <p:nvPr/>
        </p:nvSpPr>
        <p:spPr>
          <a:xfrm>
            <a:off x="8248650" y="4362450"/>
            <a:ext cx="28003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Can onboard and report only under its own account. No cross-account visibility.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DCE07C5-4943-4BCE-B972-815083BAD518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1428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BB7FB42-1216-4B73-A6AE-EAD11CEBF962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MCP Shield demo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AC5D2D8-9298-490D-B505-0B2BF5A7A1F6}"/>
              </a:ext>
            </a:extLst>
          </p:cNvPr>
          <p:cNvSpPr>
            <a:spLocks noGrp="1"/>
          </p:cNvSpPr>
          <p:nvPr/>
        </p:nvSpPr>
        <p:spPr>
          <a:xfrm>
            <a:off x="10591800" y="63627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08 / 09</a:t>
            </a:r>
          </a:p>
        </p:txBody>
      </p:sp>
    </p:spTree>
    <p:extLst>
      <p:ext uri="{BB962C8B-B14F-4D97-AF65-F5344CB8AC3E}">
        <p14:creationId xmlns:p14="http://schemas.microsoft.com/office/powerpoint/2010/main" val="639144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24212B-747F-4114-87B3-C6B6FF61146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5E59"/>
                </a:solidFill>
              </a:defRPr>
            </a:pPr>
            <a:r>
              <a:rPr sz="900" b="1">
                <a:solidFill>
                  <a:srgbClr val="115E59"/>
                </a:solidFill>
              </a:rPr>
              <a:t>NEXT STEPS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7D773A8-CCBF-46AD-83DE-E2AEE00BDA02}"/>
              </a:ext>
            </a:extLst>
          </p:cNvPr>
          <p:cNvSpPr>
            <a:spLocks noGrp="1"/>
          </p:cNvSpPr>
          <p:nvPr/>
        </p:nvSpPr>
        <p:spPr>
          <a:xfrm>
            <a:off x="10972800" y="285750"/>
            <a:ext cx="247650" cy="247650"/>
          </a:xfrm>
          <a:prstGeom prst="ellipse">
            <a:avLst/>
          </a:prstGeom>
          <a:solidFill>
            <a:srgbClr val="0D9488"/>
          </a:solidFill>
          <a:ln w="9525">
            <a:solidFill>
              <a:srgbClr val="115E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58F4042-AA19-4825-A89D-7CCDF9B9AAAA}"/>
              </a:ext>
            </a:extLst>
          </p:cNvPr>
          <p:cNvSpPr>
            <a:spLocks noGrp="1"/>
          </p:cNvSpPr>
          <p:nvPr/>
        </p:nvSpPr>
        <p:spPr>
          <a:xfrm>
            <a:off x="11315700" y="285750"/>
            <a:ext cx="247650" cy="247650"/>
          </a:xfrm>
          <a:prstGeom prst="ellipse">
            <a:avLst/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9829FB-A818-477C-8ECC-591267C12013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Production readiness path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C52895-BEA5-471D-91C2-D5AE4C22081E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7239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prototype demonstrates the product behavior. Production should enforce the same rules in backend authorization.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39CA8E-5333-4CAC-A2A6-9F666CB4FC43}"/>
              </a:ext>
            </a:extLst>
          </p:cNvPr>
          <p:cNvSpPr>
            <a:spLocks noGrp="1"/>
          </p:cNvSpPr>
          <p:nvPr/>
        </p:nvSpPr>
        <p:spPr>
          <a:xfrm>
            <a:off x="704850" y="3333750"/>
            <a:ext cx="3333750" cy="215265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59CFB0-735A-4385-858C-627E0F9C9886}"/>
              </a:ext>
            </a:extLst>
          </p:cNvPr>
          <p:cNvSpPr>
            <a:spLocks noGrp="1"/>
          </p:cNvSpPr>
          <p:nvPr/>
        </p:nvSpPr>
        <p:spPr>
          <a:xfrm>
            <a:off x="704850" y="3333750"/>
            <a:ext cx="3333750" cy="7620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953693-0643-4CAC-B3AE-15E6C53DE2A2}"/>
              </a:ext>
            </a:extLst>
          </p:cNvPr>
          <p:cNvSpPr>
            <a:spLocks noGrp="1"/>
          </p:cNvSpPr>
          <p:nvPr/>
        </p:nvSpPr>
        <p:spPr>
          <a:xfrm>
            <a:off x="933450" y="3581400"/>
            <a:ext cx="2876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API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1041A3-E603-454C-A57B-E09A4381E1CC}"/>
              </a:ext>
            </a:extLst>
          </p:cNvPr>
          <p:cNvSpPr>
            <a:spLocks noGrp="1"/>
          </p:cNvSpPr>
          <p:nvPr/>
        </p:nvSpPr>
        <p:spPr>
          <a:xfrm>
            <a:off x="933450" y="4133850"/>
            <a:ext cx="2876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5E59"/>
                </a:solidFill>
              </a:defRPr>
            </a:pPr>
            <a:r>
              <a:rPr sz="1275" b="1">
                <a:solidFill>
                  <a:srgbClr val="115E59"/>
                </a:solidFill>
              </a:rPr>
              <a:t>Server-side scope checks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85D49F-95AF-4537-AAF0-19AB5DD01D4C}"/>
              </a:ext>
            </a:extLst>
          </p:cNvPr>
          <p:cNvSpPr>
            <a:spLocks noGrp="1"/>
          </p:cNvSpPr>
          <p:nvPr/>
        </p:nvSpPr>
        <p:spPr>
          <a:xfrm>
            <a:off x="933450" y="4533900"/>
            <a:ext cx="2876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Validate role, ownerId, assignedClientIds, and service access on every request.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3CD3A64-96D4-44E0-89A9-F13F57C7F8EE}"/>
              </a:ext>
            </a:extLst>
          </p:cNvPr>
          <p:cNvSpPr>
            <a:spLocks noGrp="1"/>
          </p:cNvSpPr>
          <p:nvPr/>
        </p:nvSpPr>
        <p:spPr>
          <a:xfrm>
            <a:off x="4343400" y="3333750"/>
            <a:ext cx="3333750" cy="215265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499FE9-F339-4CB6-96E9-CCB3E7714F48}"/>
              </a:ext>
            </a:extLst>
          </p:cNvPr>
          <p:cNvSpPr>
            <a:spLocks noGrp="1"/>
          </p:cNvSpPr>
          <p:nvPr/>
        </p:nvSpPr>
        <p:spPr>
          <a:xfrm>
            <a:off x="4343400" y="3333750"/>
            <a:ext cx="333375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FC6920-C804-4FF9-AC97-DAA24742DA2C}"/>
              </a:ext>
            </a:extLst>
          </p:cNvPr>
          <p:cNvSpPr>
            <a:spLocks noGrp="1"/>
          </p:cNvSpPr>
          <p:nvPr/>
        </p:nvSpPr>
        <p:spPr>
          <a:xfrm>
            <a:off x="4572000" y="3581400"/>
            <a:ext cx="2876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Data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C551F5-3D55-4E3A-B710-C9BF851DE017}"/>
              </a:ext>
            </a:extLst>
          </p:cNvPr>
          <p:cNvSpPr>
            <a:spLocks noGrp="1"/>
          </p:cNvSpPr>
          <p:nvPr/>
        </p:nvSpPr>
        <p:spPr>
          <a:xfrm>
            <a:off x="4572000" y="4133850"/>
            <a:ext cx="2876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5E59"/>
                </a:solidFill>
              </a:defRPr>
            </a:pPr>
            <a:r>
              <a:rPr sz="1275" b="1">
                <a:solidFill>
                  <a:srgbClr val="115E59"/>
                </a:solidFill>
              </a:rPr>
              <a:t>Persist ownership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4D990B-D8D8-40F7-A591-7C9258E3EFDF}"/>
              </a:ext>
            </a:extLst>
          </p:cNvPr>
          <p:cNvSpPr>
            <a:spLocks noGrp="1"/>
          </p:cNvSpPr>
          <p:nvPr/>
        </p:nvSpPr>
        <p:spPr>
          <a:xfrm>
            <a:off x="4572000" y="4533900"/>
            <a:ext cx="2876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Reports and services need durable account owner metadata.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1A12F82-CC6A-474C-B4EE-A1C825BE1E96}"/>
              </a:ext>
            </a:extLst>
          </p:cNvPr>
          <p:cNvSpPr>
            <a:spLocks noGrp="1"/>
          </p:cNvSpPr>
          <p:nvPr/>
        </p:nvSpPr>
        <p:spPr>
          <a:xfrm>
            <a:off x="7981950" y="3333750"/>
            <a:ext cx="3333750" cy="215265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3E6E14-6C81-4F46-8EDA-28536ED5756B}"/>
              </a:ext>
            </a:extLst>
          </p:cNvPr>
          <p:cNvSpPr>
            <a:spLocks noGrp="1"/>
          </p:cNvSpPr>
          <p:nvPr/>
        </p:nvSpPr>
        <p:spPr>
          <a:xfrm>
            <a:off x="7981950" y="3333750"/>
            <a:ext cx="3333750" cy="76200"/>
          </a:xfrm>
          <a:prstGeom prst="rect">
            <a:avLst/>
          </a:prstGeom>
          <a:solidFill>
            <a:srgbClr val="0D94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7B992B-F387-4B84-A50F-4E89EBA5072E}"/>
              </a:ext>
            </a:extLst>
          </p:cNvPr>
          <p:cNvSpPr>
            <a:spLocks noGrp="1"/>
          </p:cNvSpPr>
          <p:nvPr/>
        </p:nvSpPr>
        <p:spPr>
          <a:xfrm>
            <a:off x="8210550" y="3581400"/>
            <a:ext cx="2876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Audit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6C6FA5-90E7-4538-ACFF-0286420AD01D}"/>
              </a:ext>
            </a:extLst>
          </p:cNvPr>
          <p:cNvSpPr>
            <a:spLocks noGrp="1"/>
          </p:cNvSpPr>
          <p:nvPr/>
        </p:nvSpPr>
        <p:spPr>
          <a:xfrm>
            <a:off x="8210550" y="4133850"/>
            <a:ext cx="2876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5E59"/>
                </a:solidFill>
              </a:defRPr>
            </a:pPr>
            <a:r>
              <a:rPr sz="1275" b="1">
                <a:solidFill>
                  <a:srgbClr val="115E59"/>
                </a:solidFill>
              </a:rPr>
              <a:t>Trace delegated actions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009CF2-CE9E-477D-BA8E-34314FC90794}"/>
              </a:ext>
            </a:extLst>
          </p:cNvPr>
          <p:cNvSpPr>
            <a:spLocks noGrp="1"/>
          </p:cNvSpPr>
          <p:nvPr/>
        </p:nvSpPr>
        <p:spPr>
          <a:xfrm>
            <a:off x="8210550" y="4533900"/>
            <a:ext cx="2876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Record who onboarded services and who generated each report.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B78991-BCE6-488A-893C-F7700AF15B27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1428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EAF1DA-5440-4683-AEEF-47CD7BA0BD3B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MCP Shield demo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52E937-6FD3-4D92-8BB0-53A0A0CDDBDC}"/>
              </a:ext>
            </a:extLst>
          </p:cNvPr>
          <p:cNvSpPr>
            <a:spLocks noGrp="1"/>
          </p:cNvSpPr>
          <p:nvPr/>
        </p:nvSpPr>
        <p:spPr>
          <a:xfrm>
            <a:off x="10591800" y="63627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09 / 09</a:t>
            </a:r>
          </a:p>
        </p:txBody>
      </p:sp>
    </p:spTree>
    <p:extLst>
      <p:ext uri="{BB962C8B-B14F-4D97-AF65-F5344CB8AC3E}">
        <p14:creationId xmlns:p14="http://schemas.microsoft.com/office/powerpoint/2010/main" val="58417085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842</Words>
  <Application>Microsoft Office PowerPoint</Application>
  <DocSecurity>0</DocSecurity>
  <PresentationFormat>Widescreen</PresentationFormat>
  <Paragraphs>129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Anwaar Ahmed</cp:lastModifiedBy>
  <cp:revision>9</cp:revision>
  <dcterms:created xsi:type="dcterms:W3CDTF">2026-05-11T07:39:36Z</dcterms:created>
  <dcterms:modified xsi:type="dcterms:W3CDTF">2026-05-11T07:48:01Z</dcterms:modified>
</cp:coreProperties>
</file>